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charts/chart1.xml" ContentType="application/vnd.openxmlformats-officedocument.drawingml.chart+xml"/>
  <Override PartName="/ppt/charts/chart2.xml" ContentType="application/vnd.openxmlformats-officedocument.drawingml.chart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</p:sldIdLst>
  <p:notesMasterIdLst>
    <p:notesMasterId r:id="rId12"/>
  </p:notesMaster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notesMaster" Target="notesMasters/notesMaster1.xml"/><Relationship Id="rId13" Type="http://schemas.openxmlformats.org/officeDocument/2006/relationships/presProps" Target="presProps.xml"/><Relationship Id="rId14" Type="http://schemas.openxmlformats.org/officeDocument/2006/relationships/viewProps" Target="viewProps.xml"/><Relationship Id="rId15" Type="http://schemas.openxmlformats.org/officeDocument/2006/relationships/theme" Target="theme/theme1.xml"/><Relationship Id="rId16" Type="http://schemas.openxmlformats.org/officeDocument/2006/relationships/tableStyles" Target="tableStyles.xml"/></Relationships>
</file>

<file path=ppt/charts/_rels/chart1.xml.rels><?xml version="1.0" encoding="UTF-8" standalone="yes"?><Relationships xmlns="http://schemas.openxmlformats.org/package/2006/relationships"><Relationship Id="rId1" Type="http://schemas.openxmlformats.org/officeDocument/2006/relationships/package" Target="../embeddings/Microsoft_Excel_Worksheet1.xlsx"/></Relationships>
</file>

<file path=ppt/charts/_rels/chart2.xml.rels><?xml version="1.0" encoding="UTF-8" standalone="yes"?><Relationships xmlns="http://schemas.openxmlformats.org/package/2006/relationships"><Relationship Id="rId1" Type="http://schemas.openxmlformats.org/officeDocument/2006/relationships/package" Target="../embeddings/Microsoft_Excel_Worksheet2.xlsx"/></Relationships>
</file>

<file path=ppt/charts/chart1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roundedCorners val="1"/>
  <c:chart>
    <c:title>
      <c:tx>
        <c:rich>
          <a:bodyPr/>
          <a:lstStyle/>
          <a:p>
            <a:pPr>
              <a:defRPr sz="1800" b="0" i="0" u="none" strike="noStrike">
                <a:solidFill>
                  <a:srgbClr val="000000"/>
                </a:solidFill>
                <a:latin typeface="Arial"/>
              </a:defRPr>
            </a:pPr>
            <a:r>
              <a:rPr sz="1800" b="0" i="0" u="none" strike="noStrike">
                <a:solidFill>
                  <a:srgbClr val="000000"/>
                </a:solidFill>
                <a:latin typeface="Arial"/>
              </a:rPr>
              <a:t>Attrition by Department</a:t>
            </a:r>
          </a:p>
        </c:rich>
      </c:tx>
      <c:layout/>
      <c:overlay val="0"/>
    </c:title>
    <c:autoTitleDeleted val="0"/>
    <c:plotArea>
      <c:layout/>
      <c:barChart>
        <c:barDir val="bar"/>
        <c:grouping val="clustere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Attrition Count</c:v>
                </c:pt>
              </c:strCache>
            </c:strRef>
          </c:tx>
          <c:spPr>
            <a:solidFill>
              <a:srgbClr val="EF4444"/>
            </a:solidFill>
            <a:effectLst/>
          </c:spPr>
          <c:invertIfNegative val="0"/>
          <c:dLbls>
            <c:numFmt formatCode="#,##0" sourceLinked="0"/>
            <c:txPr>
              <a:bodyPr/>
              <a:lstStyle/>
              <a:p>
                <a:pPr>
                  <a:defRPr b="0" i="0" strike="noStrike" sz="1200" u="none">
                    <a:solidFill>
                      <a:srgbClr val="1E293B"/>
                    </a:solidFill>
                    <a:latin typeface="Arial"/>
                  </a:defRPr>
                </a:pPr>
              </a:p>
            </c:txPr>
            <c:showLegendKey val="0"/>
            <c:showVal val="1"/>
            <c:showCatName val="0"/>
            <c:showSerName val="0"/>
            <c:showPercent val="0"/>
            <c:showBubbleSize val="0"/>
            <c:showLeaderLines val="0"/>
          </c:dLbls>
          <c:dPt>
            <c:idx val="0"/>
            <c:invertIfNegative val="0"/>
            <c:bubble3D val="0"/>
            <c:spPr>
              <a:solidFill>
                <a:srgbClr val="EF4444"/>
              </a:solidFill>
              <a:effectLst/>
            </c:spPr>
          </c:dPt>
          <c:dPt>
            <c:idx val="1"/>
            <c:invertIfNegative val="0"/>
            <c:bubble3D val="0"/>
            <c:spPr>
              <a:solidFill>
                <a:srgbClr val="F59E0B"/>
              </a:solidFill>
              <a:effectLst/>
            </c:spPr>
          </c:dPt>
          <c:dPt>
            <c:idx val="2"/>
            <c:invertIfNegative val="0"/>
            <c:bubble3D val="0"/>
            <c:spPr>
              <a:solidFill>
                <a:srgbClr val="22C55E"/>
              </a:solidFill>
              <a:effectLst/>
            </c:spPr>
          </c:dPt>
          <c:cat>
            <c:multiLvlStrRef>
              <c:f>Sheet1!$A$2:$A$4</c:f>
              <c:multiLvlStrCache>
                <c:ptCount val="3"/>
                <c:lvl>
                  <c:pt idx="0">
                    <c:v>Research &amp; Development</c:v>
                  </c:pt>
                  <c:pt idx="1">
                    <c:v>Sales</c:v>
                  </c:pt>
                  <c:pt idx="2">
                    <c:v>Human Resources</c:v>
                  </c:pt>
                </c:lvl>
              </c:multiLvlStrCache>
            </c:multiLvlStrRef>
          </c:cat>
          <c:val>
            <c:numRef>
              <c:f>Sheet1!$B$2:$B$4</c:f>
              <c:numCache>
                <c:formatCode>General</c:formatCode>
                <c:ptCount val="3"/>
                <c:pt idx="0">
                  <c:v>133</c:v>
                </c:pt>
                <c:pt idx="1">
                  <c:v>92</c:v>
                </c:pt>
                <c:pt idx="2">
                  <c:v>12</c:v>
                </c:pt>
              </c:numCache>
            </c:numRef>
          </c:val>
        </c:ser>
        <c:dLbls>
          <c:numFmt formatCode="#,##0" sourceLinked="0"/>
          <c:txPr>
            <a:bodyPr/>
            <a:lstStyle/>
            <a:p>
              <a:pPr>
                <a:defRPr b="0" i="0" strike="noStrike" sz="1200" u="none">
                  <a:solidFill>
                    <a:srgbClr val="1E293B"/>
                  </a:solidFill>
                  <a:latin typeface="Arial"/>
                </a:defRPr>
              </a:pPr>
            </a:p>
          </c:txPr>
          <c:showLegendKey val="0"/>
          <c:showVal val="1"/>
          <c:showCatName val="0"/>
          <c:showSerName val="0"/>
          <c:showPercent val="0"/>
          <c:showBubbleSize val="0"/>
          <c:showLeaderLines val="0"/>
        </c:dLbls>
        <c:gapWidth val="150"/>
        <c:overlap val="0"/>
        <c:axId val="2094734554"/>
        <c:axId val="2094734552"/>
        <c:axId val="2094734556"/>
      </c:barChart>
      <c:catAx>
        <c:axId val="2094734554"/>
        <c:scaling>
          <c:orientation val="minMax"/>
        </c:scaling>
        <c:delete val="0"/>
        <c:axPos val="l"/>
        <c:numFmt formatCode="General" sourceLinked="1"/>
        <c:majorTickMark val="out"/>
        <c:minorTickMark val="none"/>
        <c:tickLblPos val="nextTo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200" b="0" i="0" u="none" strike="noStrike">
                <a:solidFill>
                  <a:srgbClr val="64748B"/>
                </a:solidFill>
                <a:latin typeface="Arial"/>
              </a:defRPr>
            </a:pPr>
            <a:endParaRPr lang="en-US"/>
          </a:p>
        </c:txPr>
        <c:crossAx val="2094734552"/>
        <c:crosses val="autoZero"/>
        <c:auto val="1"/>
        <c:lblAlgn val="ctr"/>
        <c:noMultiLvlLbl val="1"/>
      </c:catAx>
      <c:valAx>
        <c:axId val="2094734552"/>
        <c:scaling>
          <c:orientation val="minMax"/>
        </c:scaling>
        <c:delete val="0"/>
        <c:axPos val="b"/>
        <c:majorGridlines>
          <c:spPr>
            <a:ln w="6350" cap="flat">
              <a:solidFill>
                <a:srgbClr val="E2E8F0"/>
              </a:solidFill>
              <a:prstDash val="solid"/>
              <a:round/>
            </a:ln>
          </c:spPr>
        </c:majorGridlines>
        <c:numFmt formatCode="General" sourceLinked="0"/>
        <c:majorTickMark val="out"/>
        <c:minorTickMark val="none"/>
        <c:tickLblPos val="low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200" b="0" i="0" u="none" strike="noStrike">
                <a:solidFill>
                  <a:srgbClr val="64748B"/>
                </a:solidFill>
                <a:latin typeface="Arial"/>
              </a:defRPr>
            </a:pPr>
            <a:endParaRPr lang="en-US"/>
          </a:p>
        </c:txPr>
        <c:crossAx val="2094734554"/>
        <c:crosses val="autoZero"/>
        <c:crossBetween val="between"/>
      </c:valAx>
      <c:spPr>
        <a:noFill/>
        <a:ln>
          <a:noFill/>
        </a:ln>
        <a:effectLst/>
      </c:spPr>
    </c:plotArea>
    <c:plotVisOnly val="1"/>
    <c:dispBlanksAs val="span"/>
  </c:chart>
  <c:spPr>
    <a:solidFill>
      <a:srgbClr val="FFFFFF"/>
    </a:solidFill>
    <a:ln>
      <a:noFill/>
    </a:ln>
    <a:effectLst/>
  </c:spPr>
  <c:externalData r:id="rId1">
    <c:autoUpdate val="0"/>
  </c:externalData>
</c:chartSpace>
</file>

<file path=ppt/charts/chart2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roundedCorners val="1"/>
  <c:chart>
    <c:title>
      <c:tx>
        <c:rich>
          <a:bodyPr/>
          <a:lstStyle/>
          <a:p>
            <a:pPr>
              <a:defRPr sz="1800" b="0" i="0" u="none" strike="noStrike">
                <a:solidFill>
                  <a:srgbClr val="000000"/>
                </a:solidFill>
                <a:latin typeface="Arial"/>
              </a:defRPr>
            </a:pPr>
            <a:r>
              <a:rPr sz="1800" b="0" i="0" u="none" strike="noStrike">
                <a:solidFill>
                  <a:srgbClr val="000000"/>
                </a:solidFill>
                <a:latin typeface="Arial"/>
              </a:rPr>
              <a:t>Employee Risk Distribution</a:t>
            </a:r>
          </a:p>
        </c:rich>
      </c:tx>
      <c:layout/>
      <c:overlay val="0"/>
    </c:title>
    <c:autoTitleDeleted val="0"/>
    <c:plotArea>
      <c:layout/>
      <c:pieChart>
        <c:varyColors val="1"/>
        <c:ser>
          <c:idx val="0"/>
          <c:order val="0"/>
          <c:tx>
            <c:strRef>
              <c:f>Sheet1!$B$1</c:f>
              <c:strCache>
                <c:ptCount val="1"/>
                <c:pt idx="0">
                  <c:v>Attrition</c:v>
                </c:pt>
              </c:strCache>
            </c:strRef>
          </c:tx>
          <c:spPr>
            <a:solidFill>
              <a:schemeClr val="accent1"/>
            </a:solidFill>
            <a:ln w="9525" cap="flat">
              <a:solidFill>
                <a:srgbClr val="F9F9F9"/>
              </a:solidFill>
              <a:prstDash val="solid"/>
              <a:round/>
            </a:ln>
            <a:effectLst/>
          </c:spPr>
          <c:dPt>
            <c:idx val="0"/>
            <c:bubble3D val="0"/>
            <c:spPr>
              <a:solidFill>
                <a:srgbClr val="EF4444"/>
              </a:solidFill>
              <a:effectLst/>
            </c:spPr>
          </c:dPt>
          <c:dPt>
            <c:idx val="1"/>
            <c:bubble3D val="0"/>
            <c:spPr>
              <a:solidFill>
                <a:srgbClr val="F59E0B"/>
              </a:solidFill>
              <a:effectLst/>
            </c:spPr>
          </c:dPt>
          <c:dPt>
            <c:idx val="2"/>
            <c:bubble3D val="0"/>
            <c:spPr>
              <a:solidFill>
                <a:srgbClr val="22C55E"/>
              </a:solidFill>
              <a:effectLst/>
            </c:spPr>
          </c:dPt>
          <c:dLbls>
            <c:dLbl>
              <c:idx val="0"/>
              <c:numFmt formatCode="0%" sourceLinked="0"/>
              <c:spPr/>
              <c:txPr>
                <a:bodyPr/>
                <a:lstStyle/>
                <a:p>
                  <a:pPr>
                    <a:defRPr sz="1200" b="0" i="0" u="none" strike="noStrike">
                      <a:solidFill>
                        <a:srgbClr val="000000"/>
                      </a:solidFill>
                      <a:latin typeface="Arial"/>
                    </a:defRPr>
                  </a:pPr>
                </a:p>
              </c:txPr>
              <c:showLegendKey val="0"/>
              <c:showVal val="0"/>
              <c:showCatName val="0"/>
              <c:showSerName val="0"/>
              <c:showPercent val="1"/>
              <c:showBubbleSize val="0"/>
            </c:dLbl>
            <c:dLbl>
              <c:idx val="1"/>
              <c:numFmt formatCode="0%" sourceLinked="0"/>
              <c:spPr/>
              <c:txPr>
                <a:bodyPr/>
                <a:lstStyle/>
                <a:p>
                  <a:pPr>
                    <a:defRPr sz="1200" b="0" i="0" u="none" strike="noStrike">
                      <a:solidFill>
                        <a:srgbClr val="000000"/>
                      </a:solidFill>
                      <a:latin typeface="Arial"/>
                    </a:defRPr>
                  </a:pPr>
                </a:p>
              </c:txPr>
              <c:showLegendKey val="0"/>
              <c:showVal val="0"/>
              <c:showCatName val="0"/>
              <c:showSerName val="0"/>
              <c:showPercent val="1"/>
              <c:showBubbleSize val="0"/>
            </c:dLbl>
            <c:dLbl>
              <c:idx val="2"/>
              <c:numFmt formatCode="0%" sourceLinked="0"/>
              <c:spPr/>
              <c:txPr>
                <a:bodyPr/>
                <a:lstStyle/>
                <a:p>
                  <a:pPr>
                    <a:defRPr sz="1200" b="0" i="0" u="none" strike="noStrike">
                      <a:solidFill>
                        <a:srgbClr val="000000"/>
                      </a:solidFill>
                      <a:latin typeface="Arial"/>
                    </a:defRPr>
                  </a:pPr>
                </a:p>
              </c:txPr>
              <c:showLegendKey val="0"/>
              <c:showVal val="0"/>
              <c:showCatName val="0"/>
              <c:showSerName val="0"/>
              <c:showPercent val="1"/>
              <c:showBubbleSize val="0"/>
            </c:dLbl>
            <c:numFmt formatCode="0%" sourceLinked="0"/>
            <c:txPr>
              <a:bodyPr/>
              <a:lstStyle/>
              <a:p>
                <a:pPr>
                  <a:defRPr sz="1800" b="0" i="0" u="none" strike="noStrike">
                    <a:solidFill>
                      <a:srgbClr val="000000"/>
                    </a:solidFill>
                    <a:latin typeface="Arial"/>
                  </a:defRPr>
                </a:pPr>
              </a:p>
            </c:txPr>
            <c:dLblPos val="ctr"/>
            <c:showLegendKey val="0"/>
            <c:showVal val="0"/>
            <c:showCatName val="1"/>
            <c:showSerName val="0"/>
            <c:showPercent val="1"/>
            <c:showBubbleSize val="0"/>
            <c:showLeaderLines val="0"/>
          </c:dLbls>
          <c:cat>
            <c:strRef>
              <c:f>Sheet1!$A$2:$A$4</c:f>
              <c:strCache>
                <c:ptCount val="3"/>
                <c:pt idx="0">
                  <c:v>High Risk</c:v>
                </c:pt>
                <c:pt idx="1">
                  <c:v>Medium Risk</c:v>
                </c:pt>
                <c:pt idx="2">
                  <c:v>Low Risk</c:v>
                </c:pt>
              </c:strCache>
            </c:strRef>
          </c:cat>
          <c:val>
            <c:numRef>
              <c:f>Sheet1!$B$2:$B$4</c:f>
              <c:numCache>
                <c:ptCount val="3"/>
                <c:pt idx="0">
                  <c:v>153</c:v>
                </c:pt>
                <c:pt idx="1">
                  <c:v>424</c:v>
                </c:pt>
                <c:pt idx="2">
                  <c:v>893</c:v>
                </c:pt>
              </c:numCache>
            </c:numRef>
          </c:val>
        </c:ser>
        <c:firstSliceAng val="0"/>
      </c:pieChart>
      <c:spPr>
        <a:noFill/>
        <a:ln>
          <a:noFill/>
        </a:ln>
        <a:effectLst/>
      </c:spPr>
    </c:plotArea>
    <c:legend>
      <c:legendPos val="r"/>
      <c:overlay val="0"/>
    </c:legend>
    <c:plotVisOnly val="1"/>
    <c:dispBlanksAs val="span"/>
  </c:chart>
  <c:spPr>
    <a:solidFill>
      <a:srgbClr val="FFFFFF"/>
    </a:solidFill>
    <a:ln>
      <a:noFill/>
    </a:ln>
    <a:effectLst/>
  </c:spPr>
  <c:externalData r:id="rId1">
    <c:autoUpdate val="0"/>
  </c:externalData>
</c:chartSpace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chart" Target="/ppt/charts/chart1.xml"/><Relationship Id="rId2" Type="http://schemas.openxmlformats.org/officeDocument/2006/relationships/chart" Target="/ppt/charts/chart2.xml"/><Relationship Id="rId3" Type="http://schemas.openxmlformats.org/officeDocument/2006/relationships/slideLayout" Target="../slideLayouts/slideLayout1.xml"/><Relationship Id="rId4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0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0A1628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64592" cy="6858000"/>
          </a:xfrm>
          <a:prstGeom prst="rect">
            <a:avLst/>
          </a:prstGeom>
          <a:solidFill>
            <a:srgbClr val="FFD700"/>
          </a:solidFill>
          <a:ln w="12700">
            <a:solidFill>
              <a:srgbClr val="FFD700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8686800" y="-731520"/>
            <a:ext cx="4114800" cy="4114800"/>
          </a:xfrm>
          <a:prstGeom prst="ellipse">
            <a:avLst/>
          </a:prstGeom>
          <a:solidFill>
            <a:srgbClr val="1A472A">
              <a:alpha val="40000"/>
            </a:srgbClr>
          </a:solidFill>
          <a:ln w="12700">
            <a:solidFill>
              <a:srgbClr val="1A472A"/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9601200" y="4572000"/>
            <a:ext cx="2743200" cy="2743200"/>
          </a:xfrm>
          <a:prstGeom prst="ellipse">
            <a:avLst/>
          </a:prstGeom>
          <a:solidFill>
            <a:srgbClr val="FFD700">
              <a:alpha val="20000"/>
            </a:srgbClr>
          </a:solidFill>
          <a:ln w="12700">
            <a:solidFill>
              <a:srgbClr val="FFD700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457200" y="5029200"/>
            <a:ext cx="1645920" cy="1645920"/>
          </a:xfrm>
          <a:prstGeom prst="ellipse">
            <a:avLst/>
          </a:prstGeom>
          <a:solidFill>
            <a:srgbClr val="1A472A">
              <a:alpha val="18000"/>
            </a:srgbClr>
          </a:solidFill>
          <a:ln w="12700">
            <a:solidFill>
              <a:srgbClr val="1A472A"/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457200" y="457200"/>
            <a:ext cx="2926080" cy="347472"/>
          </a:xfrm>
          <a:prstGeom prst="rect">
            <a:avLst/>
          </a:prstGeom>
          <a:solidFill>
            <a:srgbClr val="FFD700"/>
          </a:solidFill>
          <a:ln w="12700">
            <a:solidFill>
              <a:srgbClr val="FFD700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457200" y="457200"/>
            <a:ext cx="292608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50" b="1" dirty="0">
                <a:solidFill>
                  <a:srgbClr val="0A1628"/>
                </a:solidFill>
              </a:rPr>
              <a:t>HR DATA ANALYTICS PROJECT</a:t>
            </a:r>
            <a:endParaRPr lang="en-US" sz="850" dirty="0"/>
          </a:p>
        </p:txBody>
      </p:sp>
      <p:sp>
        <p:nvSpPr>
          <p:cNvPr id="8" name="Text 6"/>
          <p:cNvSpPr/>
          <p:nvPr/>
        </p:nvSpPr>
        <p:spPr>
          <a:xfrm>
            <a:off x="411480" y="960120"/>
            <a:ext cx="8686800" cy="7498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4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HR Employee</a:t>
            </a:r>
            <a:endParaRPr lang="en-US" sz="4400" dirty="0"/>
          </a:p>
        </p:txBody>
      </p:sp>
      <p:sp>
        <p:nvSpPr>
          <p:cNvPr id="9" name="Text 7"/>
          <p:cNvSpPr/>
          <p:nvPr/>
        </p:nvSpPr>
        <p:spPr>
          <a:xfrm>
            <a:off x="411480" y="1691640"/>
            <a:ext cx="8686800" cy="7498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4400" b="1" dirty="0">
                <a:solidFill>
                  <a:srgbClr val="FFD7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Attrition Analysis</a:t>
            </a:r>
            <a:endParaRPr lang="en-US" sz="4400" dirty="0"/>
          </a:p>
        </p:txBody>
      </p:sp>
      <p:sp>
        <p:nvSpPr>
          <p:cNvPr id="10" name="Shape 8"/>
          <p:cNvSpPr/>
          <p:nvPr/>
        </p:nvSpPr>
        <p:spPr>
          <a:xfrm>
            <a:off x="411480" y="2578608"/>
            <a:ext cx="6400800" cy="36576"/>
          </a:xfrm>
          <a:prstGeom prst="rect">
            <a:avLst/>
          </a:prstGeom>
          <a:solidFill>
            <a:srgbClr val="FFD700">
              <a:alpha val="60000"/>
            </a:srgbClr>
          </a:solidFill>
          <a:ln w="12700">
            <a:solidFill>
              <a:srgbClr val="FFD700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411480" y="2697480"/>
            <a:ext cx="86868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End-to-End Analysis using Excel  •  SQL  •  Power BI</a:t>
            </a:r>
            <a:endParaRPr lang="en-US" sz="1400" dirty="0"/>
          </a:p>
        </p:txBody>
      </p:sp>
      <p:sp>
        <p:nvSpPr>
          <p:cNvPr id="12" name="Shape 10"/>
          <p:cNvSpPr/>
          <p:nvPr/>
        </p:nvSpPr>
        <p:spPr>
          <a:xfrm>
            <a:off x="411480" y="3337560"/>
            <a:ext cx="3474720" cy="1234440"/>
          </a:xfrm>
          <a:prstGeom prst="rect">
            <a:avLst/>
          </a:prstGeom>
          <a:solidFill>
            <a:srgbClr val="162032"/>
          </a:solidFill>
          <a:ln w="12700">
            <a:solidFill>
              <a:srgbClr val="2A3F55"/>
            </a:solidFill>
            <a:prstDash val="solid"/>
          </a:ln>
          <a:effectLst>
            <a:outerShdw sx="100000" sy="100000" kx="0" ky="0" algn="bl" rotWithShape="0" blurRad="88900" dist="38100" dir="8100000">
              <a:srgbClr val="000000">
                <a:alpha val="18000"/>
              </a:srgbClr>
            </a:outerShdw>
          </a:effectLst>
        </p:spPr>
      </p:sp>
      <p:sp>
        <p:nvSpPr>
          <p:cNvPr id="13" name="Text 11"/>
          <p:cNvSpPr/>
          <p:nvPr/>
        </p:nvSpPr>
        <p:spPr>
          <a:xfrm>
            <a:off x="502920" y="3429000"/>
            <a:ext cx="32918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b="1" spc="300" kern="0" dirty="0">
                <a:solidFill>
                  <a:srgbClr val="FFD700"/>
                </a:solidFill>
              </a:rPr>
              <a:t>PRESENTED BY</a:t>
            </a:r>
            <a:endParaRPr lang="en-US" sz="800" dirty="0"/>
          </a:p>
        </p:txBody>
      </p:sp>
      <p:sp>
        <p:nvSpPr>
          <p:cNvPr id="14" name="Text 12"/>
          <p:cNvSpPr/>
          <p:nvPr/>
        </p:nvSpPr>
        <p:spPr>
          <a:xfrm>
            <a:off x="502920" y="3675888"/>
            <a:ext cx="329184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Rohan Kumar</a:t>
            </a:r>
            <a:endParaRPr lang="en-US" sz="2200" dirty="0"/>
          </a:p>
        </p:txBody>
      </p:sp>
      <p:sp>
        <p:nvSpPr>
          <p:cNvPr id="15" name="Text 13"/>
          <p:cNvSpPr/>
          <p:nvPr/>
        </p:nvSpPr>
        <p:spPr>
          <a:xfrm>
            <a:off x="502920" y="4087368"/>
            <a:ext cx="32918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94A3B8"/>
                </a:solidFill>
              </a:rPr>
              <a:t>Data Analytics  |  VGU Online</a:t>
            </a:r>
            <a:endParaRPr lang="en-US" sz="1000" dirty="0"/>
          </a:p>
        </p:txBody>
      </p:sp>
      <p:sp>
        <p:nvSpPr>
          <p:cNvPr id="16" name="Shape 14"/>
          <p:cNvSpPr/>
          <p:nvPr/>
        </p:nvSpPr>
        <p:spPr>
          <a:xfrm>
            <a:off x="4160520" y="3337560"/>
            <a:ext cx="1719072" cy="1234440"/>
          </a:xfrm>
          <a:prstGeom prst="rect">
            <a:avLst/>
          </a:prstGeom>
          <a:solidFill>
            <a:srgbClr val="162032"/>
          </a:solidFill>
          <a:ln w="12700">
            <a:solidFill>
              <a:srgbClr val="2A3F55"/>
            </a:solidFill>
            <a:prstDash val="solid"/>
          </a:ln>
          <a:effectLst>
            <a:outerShdw sx="100000" sy="100000" kx="0" ky="0" algn="bl" rotWithShape="0" blurRad="88900" dist="38100" dir="8100000">
              <a:srgbClr val="000000">
                <a:alpha val="18000"/>
              </a:srgbClr>
            </a:outerShdw>
          </a:effectLst>
        </p:spPr>
      </p:sp>
      <p:sp>
        <p:nvSpPr>
          <p:cNvPr id="17" name="Shape 15"/>
          <p:cNvSpPr/>
          <p:nvPr/>
        </p:nvSpPr>
        <p:spPr>
          <a:xfrm>
            <a:off x="4160520" y="3337560"/>
            <a:ext cx="1719072" cy="201168"/>
          </a:xfrm>
          <a:prstGeom prst="rect">
            <a:avLst/>
          </a:prstGeom>
          <a:solidFill>
            <a:srgbClr val="FFD700"/>
          </a:solidFill>
          <a:ln w="12700">
            <a:solidFill>
              <a:srgbClr val="FFD700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4160520" y="3566160"/>
            <a:ext cx="1719072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FFFFFF"/>
                </a:solidFill>
              </a:rPr>
              <a:t>6 Days</a:t>
            </a:r>
            <a:endParaRPr lang="en-US" sz="1800" dirty="0"/>
          </a:p>
        </p:txBody>
      </p:sp>
      <p:sp>
        <p:nvSpPr>
          <p:cNvPr id="19" name="Text 17"/>
          <p:cNvSpPr/>
          <p:nvPr/>
        </p:nvSpPr>
        <p:spPr>
          <a:xfrm>
            <a:off x="4160520" y="4005072"/>
            <a:ext cx="1719072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94A3B8"/>
                </a:solidFill>
              </a:rPr>
              <a:t>Project Duration</a:t>
            </a:r>
            <a:endParaRPr lang="en-US" sz="900" dirty="0"/>
          </a:p>
        </p:txBody>
      </p:sp>
      <p:sp>
        <p:nvSpPr>
          <p:cNvPr id="20" name="Shape 18"/>
          <p:cNvSpPr/>
          <p:nvPr/>
        </p:nvSpPr>
        <p:spPr>
          <a:xfrm>
            <a:off x="6080760" y="3337560"/>
            <a:ext cx="1719072" cy="1234440"/>
          </a:xfrm>
          <a:prstGeom prst="rect">
            <a:avLst/>
          </a:prstGeom>
          <a:solidFill>
            <a:srgbClr val="162032"/>
          </a:solidFill>
          <a:ln w="12700">
            <a:solidFill>
              <a:srgbClr val="2A3F55"/>
            </a:solidFill>
            <a:prstDash val="solid"/>
          </a:ln>
          <a:effectLst>
            <a:outerShdw sx="100000" sy="100000" kx="0" ky="0" algn="bl" rotWithShape="0" blurRad="88900" dist="38100" dir="8100000">
              <a:srgbClr val="000000">
                <a:alpha val="18000"/>
              </a:srgbClr>
            </a:outerShdw>
          </a:effectLst>
        </p:spPr>
      </p:sp>
      <p:sp>
        <p:nvSpPr>
          <p:cNvPr id="21" name="Shape 19"/>
          <p:cNvSpPr/>
          <p:nvPr/>
        </p:nvSpPr>
        <p:spPr>
          <a:xfrm>
            <a:off x="6080760" y="3337560"/>
            <a:ext cx="1719072" cy="201168"/>
          </a:xfrm>
          <a:prstGeom prst="rect">
            <a:avLst/>
          </a:prstGeom>
          <a:solidFill>
            <a:srgbClr val="1A472A"/>
          </a:solidFill>
          <a:ln w="12700">
            <a:solidFill>
              <a:srgbClr val="1A472A"/>
            </a:solidFill>
            <a:prstDash val="solid"/>
          </a:ln>
        </p:spPr>
      </p:sp>
      <p:sp>
        <p:nvSpPr>
          <p:cNvPr id="22" name="Text 20"/>
          <p:cNvSpPr/>
          <p:nvPr/>
        </p:nvSpPr>
        <p:spPr>
          <a:xfrm>
            <a:off x="6080760" y="3566160"/>
            <a:ext cx="1719072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FFFFFF"/>
                </a:solidFill>
              </a:rPr>
              <a:t>1,470</a:t>
            </a:r>
            <a:endParaRPr lang="en-US" sz="1800" dirty="0"/>
          </a:p>
        </p:txBody>
      </p:sp>
      <p:sp>
        <p:nvSpPr>
          <p:cNvPr id="23" name="Text 21"/>
          <p:cNvSpPr/>
          <p:nvPr/>
        </p:nvSpPr>
        <p:spPr>
          <a:xfrm>
            <a:off x="6080760" y="4005072"/>
            <a:ext cx="1719072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94A3B8"/>
                </a:solidFill>
              </a:rPr>
              <a:t>Employees</a:t>
            </a:r>
            <a:endParaRPr lang="en-US" sz="900" dirty="0"/>
          </a:p>
        </p:txBody>
      </p:sp>
      <p:sp>
        <p:nvSpPr>
          <p:cNvPr id="24" name="Shape 22"/>
          <p:cNvSpPr/>
          <p:nvPr/>
        </p:nvSpPr>
        <p:spPr>
          <a:xfrm>
            <a:off x="8001000" y="3337560"/>
            <a:ext cx="1719072" cy="1234440"/>
          </a:xfrm>
          <a:prstGeom prst="rect">
            <a:avLst/>
          </a:prstGeom>
          <a:solidFill>
            <a:srgbClr val="162032"/>
          </a:solidFill>
          <a:ln w="12700">
            <a:solidFill>
              <a:srgbClr val="2A3F55"/>
            </a:solidFill>
            <a:prstDash val="solid"/>
          </a:ln>
          <a:effectLst>
            <a:outerShdw sx="100000" sy="100000" kx="0" ky="0" algn="bl" rotWithShape="0" blurRad="88900" dist="38100" dir="8100000">
              <a:srgbClr val="000000">
                <a:alpha val="18000"/>
              </a:srgbClr>
            </a:outerShdw>
          </a:effectLst>
        </p:spPr>
      </p:sp>
      <p:sp>
        <p:nvSpPr>
          <p:cNvPr id="25" name="Shape 23"/>
          <p:cNvSpPr/>
          <p:nvPr/>
        </p:nvSpPr>
        <p:spPr>
          <a:xfrm>
            <a:off x="8001000" y="3337560"/>
            <a:ext cx="1719072" cy="201168"/>
          </a:xfrm>
          <a:prstGeom prst="rect">
            <a:avLst/>
          </a:prstGeom>
          <a:solidFill>
            <a:srgbClr val="1A472A"/>
          </a:solidFill>
          <a:ln w="12700">
            <a:solidFill>
              <a:srgbClr val="1A472A"/>
            </a:solidFill>
            <a:prstDash val="solid"/>
          </a:ln>
        </p:spPr>
      </p:sp>
      <p:sp>
        <p:nvSpPr>
          <p:cNvPr id="26" name="Text 24"/>
          <p:cNvSpPr/>
          <p:nvPr/>
        </p:nvSpPr>
        <p:spPr>
          <a:xfrm>
            <a:off x="8001000" y="3566160"/>
            <a:ext cx="1719072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FFFFFF"/>
                </a:solidFill>
              </a:rPr>
              <a:t>35</a:t>
            </a:r>
            <a:endParaRPr lang="en-US" sz="1800" dirty="0"/>
          </a:p>
        </p:txBody>
      </p:sp>
      <p:sp>
        <p:nvSpPr>
          <p:cNvPr id="27" name="Text 25"/>
          <p:cNvSpPr/>
          <p:nvPr/>
        </p:nvSpPr>
        <p:spPr>
          <a:xfrm>
            <a:off x="8001000" y="4005072"/>
            <a:ext cx="1719072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94A3B8"/>
                </a:solidFill>
              </a:rPr>
              <a:t>Columns</a:t>
            </a:r>
            <a:endParaRPr lang="en-US" sz="900" dirty="0"/>
          </a:p>
        </p:txBody>
      </p:sp>
      <p:sp>
        <p:nvSpPr>
          <p:cNvPr id="28" name="Shape 26"/>
          <p:cNvSpPr/>
          <p:nvPr/>
        </p:nvSpPr>
        <p:spPr>
          <a:xfrm>
            <a:off x="9921240" y="3337560"/>
            <a:ext cx="1719072" cy="1234440"/>
          </a:xfrm>
          <a:prstGeom prst="rect">
            <a:avLst/>
          </a:prstGeom>
          <a:solidFill>
            <a:srgbClr val="162032"/>
          </a:solidFill>
          <a:ln w="12700">
            <a:solidFill>
              <a:srgbClr val="2A3F55"/>
            </a:solidFill>
            <a:prstDash val="solid"/>
          </a:ln>
          <a:effectLst>
            <a:outerShdw sx="100000" sy="100000" kx="0" ky="0" algn="bl" rotWithShape="0" blurRad="88900" dist="38100" dir="8100000">
              <a:srgbClr val="000000">
                <a:alpha val="18000"/>
              </a:srgbClr>
            </a:outerShdw>
          </a:effectLst>
        </p:spPr>
      </p:sp>
      <p:sp>
        <p:nvSpPr>
          <p:cNvPr id="29" name="Shape 27"/>
          <p:cNvSpPr/>
          <p:nvPr/>
        </p:nvSpPr>
        <p:spPr>
          <a:xfrm>
            <a:off x="9921240" y="3337560"/>
            <a:ext cx="1719072" cy="201168"/>
          </a:xfrm>
          <a:prstGeom prst="rect">
            <a:avLst/>
          </a:prstGeom>
          <a:solidFill>
            <a:srgbClr val="1A472A"/>
          </a:solidFill>
          <a:ln w="12700">
            <a:solidFill>
              <a:srgbClr val="1A472A"/>
            </a:solidFill>
            <a:prstDash val="solid"/>
          </a:ln>
        </p:spPr>
      </p:sp>
      <p:sp>
        <p:nvSpPr>
          <p:cNvPr id="30" name="Text 28"/>
          <p:cNvSpPr/>
          <p:nvPr/>
        </p:nvSpPr>
        <p:spPr>
          <a:xfrm>
            <a:off x="9921240" y="3566160"/>
            <a:ext cx="1719072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FFFFFF"/>
                </a:solidFill>
              </a:rPr>
              <a:t>18</a:t>
            </a:r>
            <a:endParaRPr lang="en-US" sz="1800" dirty="0"/>
          </a:p>
        </p:txBody>
      </p:sp>
      <p:sp>
        <p:nvSpPr>
          <p:cNvPr id="31" name="Text 29"/>
          <p:cNvSpPr/>
          <p:nvPr/>
        </p:nvSpPr>
        <p:spPr>
          <a:xfrm>
            <a:off x="9921240" y="4005072"/>
            <a:ext cx="1719072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94A3B8"/>
                </a:solidFill>
              </a:rPr>
              <a:t>SQL Queries</a:t>
            </a:r>
            <a:endParaRPr lang="en-US" sz="900" dirty="0"/>
          </a:p>
        </p:txBody>
      </p:sp>
      <p:sp>
        <p:nvSpPr>
          <p:cNvPr id="32" name="Shape 30"/>
          <p:cNvSpPr/>
          <p:nvPr/>
        </p:nvSpPr>
        <p:spPr>
          <a:xfrm>
            <a:off x="411480" y="4773168"/>
            <a:ext cx="2148840" cy="475488"/>
          </a:xfrm>
          <a:prstGeom prst="rect">
            <a:avLst/>
          </a:prstGeom>
          <a:solidFill>
            <a:srgbClr val="2ECC71"/>
          </a:solidFill>
          <a:ln w="12700">
            <a:solidFill>
              <a:srgbClr val="2ECC71"/>
            </a:solidFill>
            <a:prstDash val="solid"/>
          </a:ln>
          <a:effectLst>
            <a:outerShdw sx="100000" sy="100000" kx="0" ky="0" algn="bl" rotWithShape="0" blurRad="88900" dist="38100" dir="8100000">
              <a:srgbClr val="000000">
                <a:alpha val="18000"/>
              </a:srgbClr>
            </a:outerShdw>
          </a:effectLst>
        </p:spPr>
      </p:sp>
      <p:sp>
        <p:nvSpPr>
          <p:cNvPr id="33" name="Text 31"/>
          <p:cNvSpPr/>
          <p:nvPr/>
        </p:nvSpPr>
        <p:spPr>
          <a:xfrm>
            <a:off x="411480" y="4773168"/>
            <a:ext cx="214884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0A1628"/>
                </a:solidFill>
              </a:rPr>
              <a:t>EXCEL</a:t>
            </a:r>
            <a:endParaRPr lang="en-US" sz="1200" dirty="0"/>
          </a:p>
        </p:txBody>
      </p:sp>
      <p:sp>
        <p:nvSpPr>
          <p:cNvPr id="34" name="Shape 32"/>
          <p:cNvSpPr/>
          <p:nvPr/>
        </p:nvSpPr>
        <p:spPr>
          <a:xfrm>
            <a:off x="2788920" y="4773168"/>
            <a:ext cx="2148840" cy="475488"/>
          </a:xfrm>
          <a:prstGeom prst="rect">
            <a:avLst/>
          </a:prstGeom>
          <a:solidFill>
            <a:srgbClr val="E67E22"/>
          </a:solidFill>
          <a:ln w="12700">
            <a:solidFill>
              <a:srgbClr val="E67E22"/>
            </a:solidFill>
            <a:prstDash val="solid"/>
          </a:ln>
          <a:effectLst>
            <a:outerShdw sx="100000" sy="100000" kx="0" ky="0" algn="bl" rotWithShape="0" blurRad="88900" dist="38100" dir="8100000">
              <a:srgbClr val="000000">
                <a:alpha val="18000"/>
              </a:srgbClr>
            </a:outerShdw>
          </a:effectLst>
        </p:spPr>
      </p:sp>
      <p:sp>
        <p:nvSpPr>
          <p:cNvPr id="35" name="Text 33"/>
          <p:cNvSpPr/>
          <p:nvPr/>
        </p:nvSpPr>
        <p:spPr>
          <a:xfrm>
            <a:off x="2788920" y="4773168"/>
            <a:ext cx="214884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0A1628"/>
                </a:solidFill>
              </a:rPr>
              <a:t>SQL</a:t>
            </a:r>
            <a:endParaRPr lang="en-US" sz="1200" dirty="0"/>
          </a:p>
        </p:txBody>
      </p:sp>
      <p:sp>
        <p:nvSpPr>
          <p:cNvPr id="36" name="Shape 34"/>
          <p:cNvSpPr/>
          <p:nvPr/>
        </p:nvSpPr>
        <p:spPr>
          <a:xfrm>
            <a:off x="5166360" y="4773168"/>
            <a:ext cx="2148840" cy="475488"/>
          </a:xfrm>
          <a:prstGeom prst="rect">
            <a:avLst/>
          </a:prstGeom>
          <a:solidFill>
            <a:srgbClr val="F1C40F"/>
          </a:solidFill>
          <a:ln w="12700">
            <a:solidFill>
              <a:srgbClr val="F1C40F"/>
            </a:solidFill>
            <a:prstDash val="solid"/>
          </a:ln>
          <a:effectLst>
            <a:outerShdw sx="100000" sy="100000" kx="0" ky="0" algn="bl" rotWithShape="0" blurRad="88900" dist="38100" dir="8100000">
              <a:srgbClr val="000000">
                <a:alpha val="18000"/>
              </a:srgbClr>
            </a:outerShdw>
          </a:effectLst>
        </p:spPr>
      </p:sp>
      <p:sp>
        <p:nvSpPr>
          <p:cNvPr id="37" name="Text 35"/>
          <p:cNvSpPr/>
          <p:nvPr/>
        </p:nvSpPr>
        <p:spPr>
          <a:xfrm>
            <a:off x="5166360" y="4773168"/>
            <a:ext cx="214884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0A1628"/>
                </a:solidFill>
              </a:rPr>
              <a:t>POWER BI</a:t>
            </a:r>
            <a:endParaRPr lang="en-US" sz="1200" dirty="0"/>
          </a:p>
        </p:txBody>
      </p:sp>
      <p:sp>
        <p:nvSpPr>
          <p:cNvPr id="38" name="Shape 36"/>
          <p:cNvSpPr/>
          <p:nvPr/>
        </p:nvSpPr>
        <p:spPr>
          <a:xfrm>
            <a:off x="411480" y="5486400"/>
            <a:ext cx="11338560" cy="841248"/>
          </a:xfrm>
          <a:prstGeom prst="rect">
            <a:avLst/>
          </a:prstGeom>
          <a:solidFill>
            <a:srgbClr val="162032"/>
          </a:solidFill>
          <a:ln w="12700">
            <a:solidFill>
              <a:srgbClr val="2A3F55"/>
            </a:solidFill>
            <a:prstDash val="solid"/>
          </a:ln>
          <a:effectLst>
            <a:outerShdw sx="100000" sy="100000" kx="0" ky="0" algn="bl" rotWithShape="0" blurRad="88900" dist="38100" dir="8100000">
              <a:srgbClr val="000000">
                <a:alpha val="18000"/>
              </a:srgbClr>
            </a:outerShdw>
          </a:effectLst>
        </p:spPr>
      </p:sp>
      <p:sp>
        <p:nvSpPr>
          <p:cNvPr id="39" name="Text 37"/>
          <p:cNvSpPr/>
          <p:nvPr/>
        </p:nvSpPr>
        <p:spPr>
          <a:xfrm>
            <a:off x="548640" y="5559552"/>
            <a:ext cx="201168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b="1" spc="200" kern="0" dirty="0">
                <a:solidFill>
                  <a:srgbClr val="FFD700"/>
                </a:solidFill>
              </a:rPr>
              <a:t>PROJECT TIMELINE</a:t>
            </a:r>
            <a:endParaRPr lang="en-US" sz="800" dirty="0"/>
          </a:p>
        </p:txBody>
      </p:sp>
      <p:sp>
        <p:nvSpPr>
          <p:cNvPr id="40" name="Shape 38"/>
          <p:cNvSpPr/>
          <p:nvPr/>
        </p:nvSpPr>
        <p:spPr>
          <a:xfrm>
            <a:off x="548640" y="5806440"/>
            <a:ext cx="2011680" cy="384048"/>
          </a:xfrm>
          <a:prstGeom prst="rect">
            <a:avLst/>
          </a:prstGeom>
          <a:solidFill>
            <a:srgbClr val="1A472A"/>
          </a:solidFill>
          <a:ln w="12700">
            <a:solidFill>
              <a:srgbClr val="FFD700"/>
            </a:solidFill>
            <a:prstDash val="solid"/>
          </a:ln>
        </p:spPr>
      </p:sp>
      <p:sp>
        <p:nvSpPr>
          <p:cNvPr id="41" name="Text 39"/>
          <p:cNvSpPr/>
          <p:nvPr/>
        </p:nvSpPr>
        <p:spPr>
          <a:xfrm>
            <a:off x="548640" y="5806440"/>
            <a:ext cx="201168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b="1" dirty="0">
                <a:solidFill>
                  <a:srgbClr val="FFD700"/>
                </a:solidFill>
              </a:rPr>
              <a:t>Day 1</a:t>
            </a:r>
            <a:endParaRPr lang="en-US" sz="800" dirty="0"/>
          </a:p>
        </p:txBody>
      </p:sp>
      <p:sp>
        <p:nvSpPr>
          <p:cNvPr id="42" name="Text 40"/>
          <p:cNvSpPr/>
          <p:nvPr/>
        </p:nvSpPr>
        <p:spPr>
          <a:xfrm>
            <a:off x="548640" y="5980176"/>
            <a:ext cx="201168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50" dirty="0">
                <a:solidFill>
                  <a:srgbClr val="FFFFFF"/>
                </a:solidFill>
              </a:rPr>
              <a:t>Dataset + Cleaning</a:t>
            </a:r>
            <a:endParaRPr lang="en-US" sz="750" dirty="0"/>
          </a:p>
        </p:txBody>
      </p:sp>
      <p:sp>
        <p:nvSpPr>
          <p:cNvPr id="43" name="Shape 41"/>
          <p:cNvSpPr/>
          <p:nvPr/>
        </p:nvSpPr>
        <p:spPr>
          <a:xfrm>
            <a:off x="2761488" y="5806440"/>
            <a:ext cx="2011680" cy="384048"/>
          </a:xfrm>
          <a:prstGeom prst="rect">
            <a:avLst/>
          </a:prstGeom>
          <a:solidFill>
            <a:srgbClr val="1A472A"/>
          </a:solidFill>
          <a:ln w="12700">
            <a:solidFill>
              <a:srgbClr val="FFD700"/>
            </a:solidFill>
            <a:prstDash val="solid"/>
          </a:ln>
        </p:spPr>
      </p:sp>
      <p:sp>
        <p:nvSpPr>
          <p:cNvPr id="44" name="Text 42"/>
          <p:cNvSpPr/>
          <p:nvPr/>
        </p:nvSpPr>
        <p:spPr>
          <a:xfrm>
            <a:off x="2761488" y="5806440"/>
            <a:ext cx="201168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b="1" dirty="0">
                <a:solidFill>
                  <a:srgbClr val="FFD700"/>
                </a:solidFill>
              </a:rPr>
              <a:t>Day 2</a:t>
            </a:r>
            <a:endParaRPr lang="en-US" sz="800" dirty="0"/>
          </a:p>
        </p:txBody>
      </p:sp>
      <p:sp>
        <p:nvSpPr>
          <p:cNvPr id="45" name="Text 43"/>
          <p:cNvSpPr/>
          <p:nvPr/>
        </p:nvSpPr>
        <p:spPr>
          <a:xfrm>
            <a:off x="2761488" y="5980176"/>
            <a:ext cx="201168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50" dirty="0">
                <a:solidFill>
                  <a:srgbClr val="FFFFFF"/>
                </a:solidFill>
              </a:rPr>
              <a:t>Excel Analysis</a:t>
            </a:r>
            <a:endParaRPr lang="en-US" sz="750" dirty="0"/>
          </a:p>
        </p:txBody>
      </p:sp>
      <p:sp>
        <p:nvSpPr>
          <p:cNvPr id="46" name="Shape 44"/>
          <p:cNvSpPr/>
          <p:nvPr/>
        </p:nvSpPr>
        <p:spPr>
          <a:xfrm>
            <a:off x="4974336" y="5806440"/>
            <a:ext cx="2011680" cy="384048"/>
          </a:xfrm>
          <a:prstGeom prst="rect">
            <a:avLst/>
          </a:prstGeom>
          <a:solidFill>
            <a:srgbClr val="1A472A"/>
          </a:solidFill>
          <a:ln w="12700">
            <a:solidFill>
              <a:srgbClr val="FFD700"/>
            </a:solidFill>
            <a:prstDash val="solid"/>
          </a:ln>
        </p:spPr>
      </p:sp>
      <p:sp>
        <p:nvSpPr>
          <p:cNvPr id="47" name="Text 45"/>
          <p:cNvSpPr/>
          <p:nvPr/>
        </p:nvSpPr>
        <p:spPr>
          <a:xfrm>
            <a:off x="4974336" y="5806440"/>
            <a:ext cx="201168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b="1" dirty="0">
                <a:solidFill>
                  <a:srgbClr val="FFD700"/>
                </a:solidFill>
              </a:rPr>
              <a:t>Day 3</a:t>
            </a:r>
            <a:endParaRPr lang="en-US" sz="800" dirty="0"/>
          </a:p>
        </p:txBody>
      </p:sp>
      <p:sp>
        <p:nvSpPr>
          <p:cNvPr id="48" name="Text 46"/>
          <p:cNvSpPr/>
          <p:nvPr/>
        </p:nvSpPr>
        <p:spPr>
          <a:xfrm>
            <a:off x="4974336" y="5980176"/>
            <a:ext cx="201168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50" dirty="0">
                <a:solidFill>
                  <a:srgbClr val="FFFFFF"/>
                </a:solidFill>
              </a:rPr>
              <a:t>SQL Queries</a:t>
            </a:r>
            <a:endParaRPr lang="en-US" sz="750" dirty="0"/>
          </a:p>
        </p:txBody>
      </p:sp>
      <p:sp>
        <p:nvSpPr>
          <p:cNvPr id="49" name="Shape 47"/>
          <p:cNvSpPr/>
          <p:nvPr/>
        </p:nvSpPr>
        <p:spPr>
          <a:xfrm>
            <a:off x="7187184" y="5806440"/>
            <a:ext cx="2011680" cy="384048"/>
          </a:xfrm>
          <a:prstGeom prst="rect">
            <a:avLst/>
          </a:prstGeom>
          <a:solidFill>
            <a:srgbClr val="1A472A"/>
          </a:solidFill>
          <a:ln w="12700">
            <a:solidFill>
              <a:srgbClr val="FFD700"/>
            </a:solidFill>
            <a:prstDash val="solid"/>
          </a:ln>
        </p:spPr>
      </p:sp>
      <p:sp>
        <p:nvSpPr>
          <p:cNvPr id="50" name="Text 48"/>
          <p:cNvSpPr/>
          <p:nvPr/>
        </p:nvSpPr>
        <p:spPr>
          <a:xfrm>
            <a:off x="7187184" y="5806440"/>
            <a:ext cx="201168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b="1" dirty="0">
                <a:solidFill>
                  <a:srgbClr val="FFD700"/>
                </a:solidFill>
              </a:rPr>
              <a:t>Day 4-5</a:t>
            </a:r>
            <a:endParaRPr lang="en-US" sz="800" dirty="0"/>
          </a:p>
        </p:txBody>
      </p:sp>
      <p:sp>
        <p:nvSpPr>
          <p:cNvPr id="51" name="Text 49"/>
          <p:cNvSpPr/>
          <p:nvPr/>
        </p:nvSpPr>
        <p:spPr>
          <a:xfrm>
            <a:off x="7187184" y="5980176"/>
            <a:ext cx="201168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50" dirty="0">
                <a:solidFill>
                  <a:srgbClr val="FFFFFF"/>
                </a:solidFill>
              </a:rPr>
              <a:t>Power BI</a:t>
            </a:r>
            <a:endParaRPr lang="en-US" sz="750" dirty="0"/>
          </a:p>
        </p:txBody>
      </p:sp>
      <p:sp>
        <p:nvSpPr>
          <p:cNvPr id="52" name="Shape 50"/>
          <p:cNvSpPr/>
          <p:nvPr/>
        </p:nvSpPr>
        <p:spPr>
          <a:xfrm>
            <a:off x="9400032" y="5806440"/>
            <a:ext cx="2011680" cy="384048"/>
          </a:xfrm>
          <a:prstGeom prst="rect">
            <a:avLst/>
          </a:prstGeom>
          <a:solidFill>
            <a:srgbClr val="1A472A"/>
          </a:solidFill>
          <a:ln w="12700">
            <a:solidFill>
              <a:srgbClr val="FFD700"/>
            </a:solidFill>
            <a:prstDash val="solid"/>
          </a:ln>
        </p:spPr>
      </p:sp>
      <p:sp>
        <p:nvSpPr>
          <p:cNvPr id="53" name="Text 51"/>
          <p:cNvSpPr/>
          <p:nvPr/>
        </p:nvSpPr>
        <p:spPr>
          <a:xfrm>
            <a:off x="9400032" y="5806440"/>
            <a:ext cx="201168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b="1" dirty="0">
                <a:solidFill>
                  <a:srgbClr val="FFD700"/>
                </a:solidFill>
              </a:rPr>
              <a:t>Day 6</a:t>
            </a:r>
            <a:endParaRPr lang="en-US" sz="800" dirty="0"/>
          </a:p>
        </p:txBody>
      </p:sp>
      <p:sp>
        <p:nvSpPr>
          <p:cNvPr id="54" name="Text 52"/>
          <p:cNvSpPr/>
          <p:nvPr/>
        </p:nvSpPr>
        <p:spPr>
          <a:xfrm>
            <a:off x="9400032" y="5980176"/>
            <a:ext cx="201168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50" dirty="0">
                <a:solidFill>
                  <a:srgbClr val="FFFFFF"/>
                </a:solidFill>
              </a:rPr>
              <a:t>PPT + GitHub</a:t>
            </a:r>
            <a:endParaRPr lang="en-US" sz="75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8FA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61520" cy="987552"/>
          </a:xfrm>
          <a:prstGeom prst="rect">
            <a:avLst/>
          </a:prstGeom>
          <a:solidFill>
            <a:srgbClr val="0A1628"/>
          </a:solidFill>
          <a:ln w="12700">
            <a:solidFill>
              <a:srgbClr val="0A1628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987552"/>
            <a:ext cx="12161520" cy="54864"/>
          </a:xfrm>
          <a:prstGeom prst="rect">
            <a:avLst/>
          </a:prstGeom>
          <a:solidFill>
            <a:srgbClr val="FFD700"/>
          </a:solidFill>
          <a:ln w="12700">
            <a:solidFill>
              <a:srgbClr val="FFD700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365760" y="64008"/>
            <a:ext cx="1143000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Project Agenda</a:t>
            </a:r>
            <a:endParaRPr lang="en-US" sz="2100" dirty="0"/>
          </a:p>
        </p:txBody>
      </p:sp>
      <p:sp>
        <p:nvSpPr>
          <p:cNvPr id="5" name="Text 3"/>
          <p:cNvSpPr/>
          <p:nvPr/>
        </p:nvSpPr>
        <p:spPr>
          <a:xfrm>
            <a:off x="365760" y="566928"/>
            <a:ext cx="11430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94A3B8"/>
                </a:solidFill>
              </a:rPr>
              <a:t>What we will cover in this presentation</a:t>
            </a:r>
            <a:endParaRPr lang="en-US" sz="1050" dirty="0"/>
          </a:p>
        </p:txBody>
      </p:sp>
      <p:sp>
        <p:nvSpPr>
          <p:cNvPr id="6" name="Shape 4"/>
          <p:cNvSpPr/>
          <p:nvPr/>
        </p:nvSpPr>
        <p:spPr>
          <a:xfrm>
            <a:off x="0" y="6601968"/>
            <a:ext cx="12161520" cy="256032"/>
          </a:xfrm>
          <a:prstGeom prst="rect">
            <a:avLst/>
          </a:prstGeom>
          <a:solidFill>
            <a:srgbClr val="0A1628"/>
          </a:solidFill>
          <a:ln w="12700">
            <a:solidFill>
              <a:srgbClr val="0A1628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365760" y="6620256"/>
            <a:ext cx="114300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50" dirty="0">
                <a:solidFill>
                  <a:srgbClr val="94A3B8"/>
                </a:solidFill>
              </a:rPr>
              <a:t>HR Attrition Analysis  •  Rohan Kumar  •  6-Day Project  •  2024</a:t>
            </a:r>
            <a:endParaRPr lang="en-US" sz="750" dirty="0"/>
          </a:p>
        </p:txBody>
      </p:sp>
      <p:sp>
        <p:nvSpPr>
          <p:cNvPr id="8" name="Shape 6"/>
          <p:cNvSpPr/>
          <p:nvPr/>
        </p:nvSpPr>
        <p:spPr>
          <a:xfrm>
            <a:off x="365760" y="1234440"/>
            <a:ext cx="11430000" cy="658368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sx="100000" sy="100000" kx="0" ky="0" algn="bl" rotWithShape="0" blurRad="88900" dist="38100" dir="8100000">
              <a:srgbClr val="000000">
                <a:alpha val="18000"/>
              </a:srgbClr>
            </a:outerShdw>
          </a:effectLst>
        </p:spPr>
      </p:sp>
      <p:sp>
        <p:nvSpPr>
          <p:cNvPr id="9" name="Shape 7"/>
          <p:cNvSpPr/>
          <p:nvPr/>
        </p:nvSpPr>
        <p:spPr>
          <a:xfrm>
            <a:off x="365760" y="1234440"/>
            <a:ext cx="548640" cy="658368"/>
          </a:xfrm>
          <a:prstGeom prst="rect">
            <a:avLst/>
          </a:prstGeom>
          <a:solidFill>
            <a:srgbClr val="FFD700"/>
          </a:solidFill>
          <a:ln w="12700">
            <a:solidFill>
              <a:srgbClr val="FFD700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365760" y="1234440"/>
            <a:ext cx="54864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0A1628"/>
                </a:solidFill>
              </a:rPr>
              <a:t>01</a:t>
            </a:r>
            <a:endParaRPr lang="en-US" sz="1600" dirty="0"/>
          </a:p>
        </p:txBody>
      </p:sp>
      <p:sp>
        <p:nvSpPr>
          <p:cNvPr id="11" name="Text 9"/>
          <p:cNvSpPr/>
          <p:nvPr/>
        </p:nvSpPr>
        <p:spPr>
          <a:xfrm>
            <a:off x="1024128" y="1316736"/>
            <a:ext cx="106070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0A1628"/>
                </a:solidFill>
              </a:rPr>
              <a:t>Project Overview</a:t>
            </a:r>
            <a:endParaRPr lang="en-US" sz="1200" dirty="0"/>
          </a:p>
        </p:txBody>
      </p:sp>
      <p:sp>
        <p:nvSpPr>
          <p:cNvPr id="12" name="Text 10"/>
          <p:cNvSpPr/>
          <p:nvPr/>
        </p:nvSpPr>
        <p:spPr>
          <a:xfrm>
            <a:off x="1024128" y="1572768"/>
            <a:ext cx="106070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94A3B8"/>
                </a:solidFill>
              </a:rPr>
              <a:t>Goals, dataset details, tools used and project timeline</a:t>
            </a:r>
            <a:endParaRPr lang="en-US" sz="950" dirty="0"/>
          </a:p>
        </p:txBody>
      </p:sp>
      <p:sp>
        <p:nvSpPr>
          <p:cNvPr id="13" name="Shape 11"/>
          <p:cNvSpPr/>
          <p:nvPr/>
        </p:nvSpPr>
        <p:spPr>
          <a:xfrm>
            <a:off x="365760" y="1984248"/>
            <a:ext cx="11430000" cy="658368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sx="100000" sy="100000" kx="0" ky="0" algn="bl" rotWithShape="0" blurRad="88900" dist="38100" dir="8100000">
              <a:srgbClr val="000000">
                <a:alpha val="18000"/>
              </a:srgbClr>
            </a:outerShdw>
          </a:effectLst>
        </p:spPr>
      </p:sp>
      <p:sp>
        <p:nvSpPr>
          <p:cNvPr id="14" name="Shape 12"/>
          <p:cNvSpPr/>
          <p:nvPr/>
        </p:nvSpPr>
        <p:spPr>
          <a:xfrm>
            <a:off x="365760" y="1984248"/>
            <a:ext cx="548640" cy="658368"/>
          </a:xfrm>
          <a:prstGeom prst="rect">
            <a:avLst/>
          </a:prstGeom>
          <a:solidFill>
            <a:srgbClr val="1A472A"/>
          </a:solidFill>
          <a:ln w="12700">
            <a:solidFill>
              <a:srgbClr val="1A472A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365760" y="1984248"/>
            <a:ext cx="54864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0A1628"/>
                </a:solidFill>
              </a:rPr>
              <a:t>02</a:t>
            </a:r>
            <a:endParaRPr lang="en-US" sz="1600" dirty="0"/>
          </a:p>
        </p:txBody>
      </p:sp>
      <p:sp>
        <p:nvSpPr>
          <p:cNvPr id="16" name="Text 14"/>
          <p:cNvSpPr/>
          <p:nvPr/>
        </p:nvSpPr>
        <p:spPr>
          <a:xfrm>
            <a:off x="1024128" y="2066544"/>
            <a:ext cx="106070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0A1628"/>
                </a:solidFill>
              </a:rPr>
              <a:t>Dataset Overview</a:t>
            </a:r>
            <a:endParaRPr lang="en-US" sz="1200" dirty="0"/>
          </a:p>
        </p:txBody>
      </p:sp>
      <p:sp>
        <p:nvSpPr>
          <p:cNvPr id="17" name="Text 15"/>
          <p:cNvSpPr/>
          <p:nvPr/>
        </p:nvSpPr>
        <p:spPr>
          <a:xfrm>
            <a:off x="1024128" y="2322576"/>
            <a:ext cx="106070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94A3B8"/>
                </a:solidFill>
              </a:rPr>
              <a:t>1,470 employees, 35 columns, IBM HR Analytics data</a:t>
            </a:r>
            <a:endParaRPr lang="en-US" sz="950" dirty="0"/>
          </a:p>
        </p:txBody>
      </p:sp>
      <p:sp>
        <p:nvSpPr>
          <p:cNvPr id="18" name="Shape 16"/>
          <p:cNvSpPr/>
          <p:nvPr/>
        </p:nvSpPr>
        <p:spPr>
          <a:xfrm>
            <a:off x="365760" y="2734056"/>
            <a:ext cx="11430000" cy="658368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sx="100000" sy="100000" kx="0" ky="0" algn="bl" rotWithShape="0" blurRad="88900" dist="38100" dir="8100000">
              <a:srgbClr val="000000">
                <a:alpha val="18000"/>
              </a:srgbClr>
            </a:outerShdw>
          </a:effectLst>
        </p:spPr>
      </p:sp>
      <p:sp>
        <p:nvSpPr>
          <p:cNvPr id="19" name="Shape 17"/>
          <p:cNvSpPr/>
          <p:nvPr/>
        </p:nvSpPr>
        <p:spPr>
          <a:xfrm>
            <a:off x="365760" y="2734056"/>
            <a:ext cx="548640" cy="658368"/>
          </a:xfrm>
          <a:prstGeom prst="rect">
            <a:avLst/>
          </a:prstGeom>
          <a:solidFill>
            <a:srgbClr val="FFD700"/>
          </a:solidFill>
          <a:ln w="12700">
            <a:solidFill>
              <a:srgbClr val="FFD700"/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365760" y="2734056"/>
            <a:ext cx="54864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0A1628"/>
                </a:solidFill>
              </a:rPr>
              <a:t>03</a:t>
            </a:r>
            <a:endParaRPr lang="en-US" sz="1600" dirty="0"/>
          </a:p>
        </p:txBody>
      </p:sp>
      <p:sp>
        <p:nvSpPr>
          <p:cNvPr id="21" name="Text 19"/>
          <p:cNvSpPr/>
          <p:nvPr/>
        </p:nvSpPr>
        <p:spPr>
          <a:xfrm>
            <a:off x="1024128" y="2816352"/>
            <a:ext cx="106070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0A1628"/>
                </a:solidFill>
              </a:rPr>
              <a:t>Excel Analysis</a:t>
            </a:r>
            <a:endParaRPr lang="en-US" sz="1200" dirty="0"/>
          </a:p>
        </p:txBody>
      </p:sp>
      <p:sp>
        <p:nvSpPr>
          <p:cNvPr id="22" name="Text 20"/>
          <p:cNvSpPr/>
          <p:nvPr/>
        </p:nvSpPr>
        <p:spPr>
          <a:xfrm>
            <a:off x="1024128" y="3072384"/>
            <a:ext cx="106070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94A3B8"/>
                </a:solidFill>
              </a:rPr>
              <a:t>Data cleaning, 4 pivot tables, charts and dashboard</a:t>
            </a:r>
            <a:endParaRPr lang="en-US" sz="950" dirty="0"/>
          </a:p>
        </p:txBody>
      </p:sp>
      <p:sp>
        <p:nvSpPr>
          <p:cNvPr id="23" name="Shape 21"/>
          <p:cNvSpPr/>
          <p:nvPr/>
        </p:nvSpPr>
        <p:spPr>
          <a:xfrm>
            <a:off x="365760" y="3483864"/>
            <a:ext cx="11430000" cy="658368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sx="100000" sy="100000" kx="0" ky="0" algn="bl" rotWithShape="0" blurRad="88900" dist="38100" dir="8100000">
              <a:srgbClr val="000000">
                <a:alpha val="18000"/>
              </a:srgbClr>
            </a:outerShdw>
          </a:effectLst>
        </p:spPr>
      </p:sp>
      <p:sp>
        <p:nvSpPr>
          <p:cNvPr id="24" name="Shape 22"/>
          <p:cNvSpPr/>
          <p:nvPr/>
        </p:nvSpPr>
        <p:spPr>
          <a:xfrm>
            <a:off x="365760" y="3483864"/>
            <a:ext cx="548640" cy="658368"/>
          </a:xfrm>
          <a:prstGeom prst="rect">
            <a:avLst/>
          </a:prstGeom>
          <a:solidFill>
            <a:srgbClr val="1A472A"/>
          </a:solidFill>
          <a:ln w="12700">
            <a:solidFill>
              <a:srgbClr val="1A472A"/>
            </a:solidFill>
            <a:prstDash val="solid"/>
          </a:ln>
        </p:spPr>
      </p:sp>
      <p:sp>
        <p:nvSpPr>
          <p:cNvPr id="25" name="Text 23"/>
          <p:cNvSpPr/>
          <p:nvPr/>
        </p:nvSpPr>
        <p:spPr>
          <a:xfrm>
            <a:off x="365760" y="3483864"/>
            <a:ext cx="54864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0A1628"/>
                </a:solidFill>
              </a:rPr>
              <a:t>04</a:t>
            </a:r>
            <a:endParaRPr lang="en-US" sz="1600" dirty="0"/>
          </a:p>
        </p:txBody>
      </p:sp>
      <p:sp>
        <p:nvSpPr>
          <p:cNvPr id="26" name="Text 24"/>
          <p:cNvSpPr/>
          <p:nvPr/>
        </p:nvSpPr>
        <p:spPr>
          <a:xfrm>
            <a:off x="1024128" y="3566160"/>
            <a:ext cx="106070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0A1628"/>
                </a:solidFill>
              </a:rPr>
              <a:t>SQL Analysis</a:t>
            </a:r>
            <a:endParaRPr lang="en-US" sz="1200" dirty="0"/>
          </a:p>
        </p:txBody>
      </p:sp>
      <p:sp>
        <p:nvSpPr>
          <p:cNvPr id="27" name="Text 25"/>
          <p:cNvSpPr/>
          <p:nvPr/>
        </p:nvSpPr>
        <p:spPr>
          <a:xfrm>
            <a:off x="1024128" y="3822192"/>
            <a:ext cx="106070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94A3B8"/>
                </a:solidFill>
              </a:rPr>
              <a:t>18 queries — WHERE, GROUP BY, CASE, JOIN, CTE, VIEW</a:t>
            </a:r>
            <a:endParaRPr lang="en-US" sz="950" dirty="0"/>
          </a:p>
        </p:txBody>
      </p:sp>
      <p:sp>
        <p:nvSpPr>
          <p:cNvPr id="28" name="Shape 26"/>
          <p:cNvSpPr/>
          <p:nvPr/>
        </p:nvSpPr>
        <p:spPr>
          <a:xfrm>
            <a:off x="365760" y="4233672"/>
            <a:ext cx="11430000" cy="658368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sx="100000" sy="100000" kx="0" ky="0" algn="bl" rotWithShape="0" blurRad="88900" dist="38100" dir="8100000">
              <a:srgbClr val="000000">
                <a:alpha val="18000"/>
              </a:srgbClr>
            </a:outerShdw>
          </a:effectLst>
        </p:spPr>
      </p:sp>
      <p:sp>
        <p:nvSpPr>
          <p:cNvPr id="29" name="Shape 27"/>
          <p:cNvSpPr/>
          <p:nvPr/>
        </p:nvSpPr>
        <p:spPr>
          <a:xfrm>
            <a:off x="365760" y="4233672"/>
            <a:ext cx="548640" cy="658368"/>
          </a:xfrm>
          <a:prstGeom prst="rect">
            <a:avLst/>
          </a:prstGeom>
          <a:solidFill>
            <a:srgbClr val="FFD700"/>
          </a:solidFill>
          <a:ln w="12700">
            <a:solidFill>
              <a:srgbClr val="FFD700"/>
            </a:solidFill>
            <a:prstDash val="solid"/>
          </a:ln>
        </p:spPr>
      </p:sp>
      <p:sp>
        <p:nvSpPr>
          <p:cNvPr id="30" name="Text 28"/>
          <p:cNvSpPr/>
          <p:nvPr/>
        </p:nvSpPr>
        <p:spPr>
          <a:xfrm>
            <a:off x="365760" y="4233672"/>
            <a:ext cx="54864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0A1628"/>
                </a:solidFill>
              </a:rPr>
              <a:t>05</a:t>
            </a:r>
            <a:endParaRPr lang="en-US" sz="1600" dirty="0"/>
          </a:p>
        </p:txBody>
      </p:sp>
      <p:sp>
        <p:nvSpPr>
          <p:cNvPr id="31" name="Text 29"/>
          <p:cNvSpPr/>
          <p:nvPr/>
        </p:nvSpPr>
        <p:spPr>
          <a:xfrm>
            <a:off x="1024128" y="4315968"/>
            <a:ext cx="106070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0A1628"/>
                </a:solidFill>
              </a:rPr>
              <a:t>Power BI Dashboards</a:t>
            </a:r>
            <a:endParaRPr lang="en-US" sz="1200" dirty="0"/>
          </a:p>
        </p:txBody>
      </p:sp>
      <p:sp>
        <p:nvSpPr>
          <p:cNvPr id="32" name="Text 30"/>
          <p:cNvSpPr/>
          <p:nvPr/>
        </p:nvSpPr>
        <p:spPr>
          <a:xfrm>
            <a:off x="1024128" y="4572000"/>
            <a:ext cx="106070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94A3B8"/>
                </a:solidFill>
              </a:rPr>
              <a:t>4 dashboards, 228 visuals, Dark Green &amp; Gold theme</a:t>
            </a:r>
            <a:endParaRPr lang="en-US" sz="950" dirty="0"/>
          </a:p>
        </p:txBody>
      </p:sp>
      <p:sp>
        <p:nvSpPr>
          <p:cNvPr id="33" name="Shape 31"/>
          <p:cNvSpPr/>
          <p:nvPr/>
        </p:nvSpPr>
        <p:spPr>
          <a:xfrm>
            <a:off x="365760" y="4983480"/>
            <a:ext cx="11430000" cy="658368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sx="100000" sy="100000" kx="0" ky="0" algn="bl" rotWithShape="0" blurRad="88900" dist="38100" dir="8100000">
              <a:srgbClr val="000000">
                <a:alpha val="18000"/>
              </a:srgbClr>
            </a:outerShdw>
          </a:effectLst>
        </p:spPr>
      </p:sp>
      <p:sp>
        <p:nvSpPr>
          <p:cNvPr id="34" name="Shape 32"/>
          <p:cNvSpPr/>
          <p:nvPr/>
        </p:nvSpPr>
        <p:spPr>
          <a:xfrm>
            <a:off x="365760" y="4983480"/>
            <a:ext cx="548640" cy="658368"/>
          </a:xfrm>
          <a:prstGeom prst="rect">
            <a:avLst/>
          </a:prstGeom>
          <a:solidFill>
            <a:srgbClr val="1A472A"/>
          </a:solidFill>
          <a:ln w="12700">
            <a:solidFill>
              <a:srgbClr val="1A472A"/>
            </a:solidFill>
            <a:prstDash val="solid"/>
          </a:ln>
        </p:spPr>
      </p:sp>
      <p:sp>
        <p:nvSpPr>
          <p:cNvPr id="35" name="Text 33"/>
          <p:cNvSpPr/>
          <p:nvPr/>
        </p:nvSpPr>
        <p:spPr>
          <a:xfrm>
            <a:off x="365760" y="4983480"/>
            <a:ext cx="54864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0A1628"/>
                </a:solidFill>
              </a:rPr>
              <a:t>06</a:t>
            </a:r>
            <a:endParaRPr lang="en-US" sz="1600" dirty="0"/>
          </a:p>
        </p:txBody>
      </p:sp>
      <p:sp>
        <p:nvSpPr>
          <p:cNvPr id="36" name="Text 34"/>
          <p:cNvSpPr/>
          <p:nvPr/>
        </p:nvSpPr>
        <p:spPr>
          <a:xfrm>
            <a:off x="1024128" y="5065776"/>
            <a:ext cx="106070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0A1628"/>
                </a:solidFill>
              </a:rPr>
              <a:t>Key Business Insights</a:t>
            </a:r>
            <a:endParaRPr lang="en-US" sz="1200" dirty="0"/>
          </a:p>
        </p:txBody>
      </p:sp>
      <p:sp>
        <p:nvSpPr>
          <p:cNvPr id="37" name="Text 35"/>
          <p:cNvSpPr/>
          <p:nvPr/>
        </p:nvSpPr>
        <p:spPr>
          <a:xfrm>
            <a:off x="1024128" y="5321808"/>
            <a:ext cx="106070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94A3B8"/>
                </a:solidFill>
              </a:rPr>
              <a:t>Critical HR findings and attrition risk factors</a:t>
            </a:r>
            <a:endParaRPr lang="en-US" sz="950" dirty="0"/>
          </a:p>
        </p:txBody>
      </p:sp>
      <p:sp>
        <p:nvSpPr>
          <p:cNvPr id="38" name="Shape 36"/>
          <p:cNvSpPr/>
          <p:nvPr/>
        </p:nvSpPr>
        <p:spPr>
          <a:xfrm>
            <a:off x="365760" y="5733288"/>
            <a:ext cx="11430000" cy="658368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sx="100000" sy="100000" kx="0" ky="0" algn="bl" rotWithShape="0" blurRad="88900" dist="38100" dir="8100000">
              <a:srgbClr val="000000">
                <a:alpha val="18000"/>
              </a:srgbClr>
            </a:outerShdw>
          </a:effectLst>
        </p:spPr>
      </p:sp>
      <p:sp>
        <p:nvSpPr>
          <p:cNvPr id="39" name="Shape 37"/>
          <p:cNvSpPr/>
          <p:nvPr/>
        </p:nvSpPr>
        <p:spPr>
          <a:xfrm>
            <a:off x="365760" y="5733288"/>
            <a:ext cx="548640" cy="658368"/>
          </a:xfrm>
          <a:prstGeom prst="rect">
            <a:avLst/>
          </a:prstGeom>
          <a:solidFill>
            <a:srgbClr val="FFD700"/>
          </a:solidFill>
          <a:ln w="12700">
            <a:solidFill>
              <a:srgbClr val="FFD700"/>
            </a:solidFill>
            <a:prstDash val="solid"/>
          </a:ln>
        </p:spPr>
      </p:sp>
      <p:sp>
        <p:nvSpPr>
          <p:cNvPr id="40" name="Text 38"/>
          <p:cNvSpPr/>
          <p:nvPr/>
        </p:nvSpPr>
        <p:spPr>
          <a:xfrm>
            <a:off x="365760" y="5733288"/>
            <a:ext cx="54864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0A1628"/>
                </a:solidFill>
              </a:rPr>
              <a:t>07</a:t>
            </a:r>
            <a:endParaRPr lang="en-US" sz="1600" dirty="0"/>
          </a:p>
        </p:txBody>
      </p:sp>
      <p:sp>
        <p:nvSpPr>
          <p:cNvPr id="41" name="Text 39"/>
          <p:cNvSpPr/>
          <p:nvPr/>
        </p:nvSpPr>
        <p:spPr>
          <a:xfrm>
            <a:off x="1024128" y="5815584"/>
            <a:ext cx="106070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0A1628"/>
                </a:solidFill>
              </a:rPr>
              <a:t>Conclusion</a:t>
            </a:r>
            <a:endParaRPr lang="en-US" sz="1200" dirty="0"/>
          </a:p>
        </p:txBody>
      </p:sp>
      <p:sp>
        <p:nvSpPr>
          <p:cNvPr id="42" name="Text 40"/>
          <p:cNvSpPr/>
          <p:nvPr/>
        </p:nvSpPr>
        <p:spPr>
          <a:xfrm>
            <a:off x="1024128" y="6071616"/>
            <a:ext cx="106070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94A3B8"/>
                </a:solidFill>
              </a:rPr>
              <a:t>Recommendations, skills gained and next steps</a:t>
            </a:r>
            <a:endParaRPr lang="en-US" sz="95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8FA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61520" cy="987552"/>
          </a:xfrm>
          <a:prstGeom prst="rect">
            <a:avLst/>
          </a:prstGeom>
          <a:solidFill>
            <a:srgbClr val="0A1628"/>
          </a:solidFill>
          <a:ln w="12700">
            <a:solidFill>
              <a:srgbClr val="0A1628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987552"/>
            <a:ext cx="12161520" cy="54864"/>
          </a:xfrm>
          <a:prstGeom prst="rect">
            <a:avLst/>
          </a:prstGeom>
          <a:solidFill>
            <a:srgbClr val="FFD700"/>
          </a:solidFill>
          <a:ln w="12700">
            <a:solidFill>
              <a:srgbClr val="FFD700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365760" y="64008"/>
            <a:ext cx="1143000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Project Overview</a:t>
            </a:r>
            <a:endParaRPr lang="en-US" sz="2100" dirty="0"/>
          </a:p>
        </p:txBody>
      </p:sp>
      <p:sp>
        <p:nvSpPr>
          <p:cNvPr id="5" name="Text 3"/>
          <p:cNvSpPr/>
          <p:nvPr/>
        </p:nvSpPr>
        <p:spPr>
          <a:xfrm>
            <a:off x="365760" y="566928"/>
            <a:ext cx="11430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94A3B8"/>
                </a:solidFill>
              </a:rPr>
              <a:t>End-to-end HR analytics project — Why do employees leave?</a:t>
            </a:r>
            <a:endParaRPr lang="en-US" sz="1050" dirty="0"/>
          </a:p>
        </p:txBody>
      </p:sp>
      <p:sp>
        <p:nvSpPr>
          <p:cNvPr id="6" name="Shape 4"/>
          <p:cNvSpPr/>
          <p:nvPr/>
        </p:nvSpPr>
        <p:spPr>
          <a:xfrm>
            <a:off x="0" y="6601968"/>
            <a:ext cx="12161520" cy="256032"/>
          </a:xfrm>
          <a:prstGeom prst="rect">
            <a:avLst/>
          </a:prstGeom>
          <a:solidFill>
            <a:srgbClr val="0A1628"/>
          </a:solidFill>
          <a:ln w="12700">
            <a:solidFill>
              <a:srgbClr val="0A1628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365760" y="6620256"/>
            <a:ext cx="114300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50" dirty="0">
                <a:solidFill>
                  <a:srgbClr val="94A3B8"/>
                </a:solidFill>
              </a:rPr>
              <a:t>HR Attrition Analysis  •  Rohan Kumar  •  6-Day Project  •  2024</a:t>
            </a:r>
            <a:endParaRPr lang="en-US" sz="750" dirty="0"/>
          </a:p>
        </p:txBody>
      </p:sp>
      <p:sp>
        <p:nvSpPr>
          <p:cNvPr id="8" name="Shape 6"/>
          <p:cNvSpPr/>
          <p:nvPr/>
        </p:nvSpPr>
        <p:spPr>
          <a:xfrm>
            <a:off x="320040" y="1188720"/>
            <a:ext cx="11521440" cy="1051560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sx="100000" sy="100000" kx="0" ky="0" algn="bl" rotWithShape="0" blurRad="88900" dist="38100" dir="8100000">
              <a:srgbClr val="000000">
                <a:alpha val="18000"/>
              </a:srgbClr>
            </a:outerShdw>
          </a:effectLst>
        </p:spPr>
      </p:sp>
      <p:sp>
        <p:nvSpPr>
          <p:cNvPr id="9" name="Shape 7"/>
          <p:cNvSpPr/>
          <p:nvPr/>
        </p:nvSpPr>
        <p:spPr>
          <a:xfrm>
            <a:off x="320040" y="1188720"/>
            <a:ext cx="73152" cy="1051560"/>
          </a:xfrm>
          <a:prstGeom prst="rect">
            <a:avLst/>
          </a:prstGeom>
          <a:solidFill>
            <a:srgbClr val="FFD700"/>
          </a:solidFill>
          <a:ln w="12700">
            <a:solidFill>
              <a:srgbClr val="FFD700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502920" y="1261872"/>
            <a:ext cx="112471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0A1628"/>
                </a:solidFill>
              </a:rPr>
              <a:t>Project Objective</a:t>
            </a:r>
            <a:endParaRPr lang="en-US" sz="1300" dirty="0"/>
          </a:p>
        </p:txBody>
      </p:sp>
      <p:sp>
        <p:nvSpPr>
          <p:cNvPr id="11" name="Text 9"/>
          <p:cNvSpPr/>
          <p:nvPr/>
        </p:nvSpPr>
        <p:spPr>
          <a:xfrm>
            <a:off x="502920" y="1554480"/>
            <a:ext cx="1124712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475569"/>
                </a:solidFill>
              </a:rPr>
              <a:t>Analyze IBM HR data to identify key factors causing employee attrition, understand patterns across departments, salary bands, job roles, and satisfaction levels — using Excel, SQL, and Power BI to present actionable business insights.</a:t>
            </a:r>
            <a:endParaRPr lang="en-US" sz="1000" dirty="0"/>
          </a:p>
        </p:txBody>
      </p:sp>
      <p:sp>
        <p:nvSpPr>
          <p:cNvPr id="12" name="Shape 10"/>
          <p:cNvSpPr/>
          <p:nvPr/>
        </p:nvSpPr>
        <p:spPr>
          <a:xfrm>
            <a:off x="320040" y="2468880"/>
            <a:ext cx="3657600" cy="1234440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sx="100000" sy="100000" kx="0" ky="0" algn="bl" rotWithShape="0" blurRad="88900" dist="38100" dir="8100000">
              <a:srgbClr val="000000">
                <a:alpha val="18000"/>
              </a:srgbClr>
            </a:outerShdw>
          </a:effectLst>
        </p:spPr>
      </p:sp>
      <p:sp>
        <p:nvSpPr>
          <p:cNvPr id="13" name="Shape 11"/>
          <p:cNvSpPr/>
          <p:nvPr/>
        </p:nvSpPr>
        <p:spPr>
          <a:xfrm>
            <a:off x="320040" y="2468880"/>
            <a:ext cx="3657600" cy="256032"/>
          </a:xfrm>
          <a:prstGeom prst="rect">
            <a:avLst/>
          </a:prstGeom>
          <a:solidFill>
            <a:srgbClr val="FFD700"/>
          </a:solidFill>
          <a:ln w="12700">
            <a:solidFill>
              <a:srgbClr val="FFD700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411480" y="2788920"/>
            <a:ext cx="347472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0A1628"/>
                </a:solidFill>
              </a:rPr>
              <a:t>Pattern Analysis</a:t>
            </a:r>
            <a:endParaRPr lang="en-US" sz="1200" dirty="0"/>
          </a:p>
        </p:txBody>
      </p:sp>
      <p:sp>
        <p:nvSpPr>
          <p:cNvPr id="15" name="Text 13"/>
          <p:cNvSpPr/>
          <p:nvPr/>
        </p:nvSpPr>
        <p:spPr>
          <a:xfrm>
            <a:off x="411480" y="3090672"/>
            <a:ext cx="34747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475569"/>
                </a:solidFill>
              </a:rPr>
              <a:t>Identify which employees are most likely to leave</a:t>
            </a:r>
            <a:endParaRPr lang="en-US" sz="950" dirty="0"/>
          </a:p>
        </p:txBody>
      </p:sp>
      <p:sp>
        <p:nvSpPr>
          <p:cNvPr id="16" name="Shape 14"/>
          <p:cNvSpPr/>
          <p:nvPr/>
        </p:nvSpPr>
        <p:spPr>
          <a:xfrm>
            <a:off x="4251960" y="2468880"/>
            <a:ext cx="3657600" cy="1234440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sx="100000" sy="100000" kx="0" ky="0" algn="bl" rotWithShape="0" blurRad="88900" dist="38100" dir="8100000">
              <a:srgbClr val="000000">
                <a:alpha val="18000"/>
              </a:srgbClr>
            </a:outerShdw>
          </a:effectLst>
        </p:spPr>
      </p:sp>
      <p:sp>
        <p:nvSpPr>
          <p:cNvPr id="17" name="Shape 15"/>
          <p:cNvSpPr/>
          <p:nvPr/>
        </p:nvSpPr>
        <p:spPr>
          <a:xfrm>
            <a:off x="4251960" y="2468880"/>
            <a:ext cx="3657600" cy="256032"/>
          </a:xfrm>
          <a:prstGeom prst="rect">
            <a:avLst/>
          </a:prstGeom>
          <a:solidFill>
            <a:srgbClr val="1A472A"/>
          </a:solidFill>
          <a:ln w="12700">
            <a:solidFill>
              <a:srgbClr val="1A472A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4343400" y="2788920"/>
            <a:ext cx="347472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0A1628"/>
                </a:solidFill>
              </a:rPr>
              <a:t>Root Cause Finding</a:t>
            </a:r>
            <a:endParaRPr lang="en-US" sz="1200" dirty="0"/>
          </a:p>
        </p:txBody>
      </p:sp>
      <p:sp>
        <p:nvSpPr>
          <p:cNvPr id="19" name="Text 17"/>
          <p:cNvSpPr/>
          <p:nvPr/>
        </p:nvSpPr>
        <p:spPr>
          <a:xfrm>
            <a:off x="4343400" y="3090672"/>
            <a:ext cx="34747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475569"/>
                </a:solidFill>
              </a:rPr>
              <a:t>Understand WHY attrition happens — salary, overtime, satisfaction</a:t>
            </a:r>
            <a:endParaRPr lang="en-US" sz="950" dirty="0"/>
          </a:p>
        </p:txBody>
      </p:sp>
      <p:sp>
        <p:nvSpPr>
          <p:cNvPr id="20" name="Shape 18"/>
          <p:cNvSpPr/>
          <p:nvPr/>
        </p:nvSpPr>
        <p:spPr>
          <a:xfrm>
            <a:off x="8183880" y="2468880"/>
            <a:ext cx="3657600" cy="1234440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sx="100000" sy="100000" kx="0" ky="0" algn="bl" rotWithShape="0" blurRad="88900" dist="38100" dir="8100000">
              <a:srgbClr val="000000">
                <a:alpha val="18000"/>
              </a:srgbClr>
            </a:outerShdw>
          </a:effectLst>
        </p:spPr>
      </p:sp>
      <p:sp>
        <p:nvSpPr>
          <p:cNvPr id="21" name="Shape 19"/>
          <p:cNvSpPr/>
          <p:nvPr/>
        </p:nvSpPr>
        <p:spPr>
          <a:xfrm>
            <a:off x="8183880" y="2468880"/>
            <a:ext cx="3657600" cy="256032"/>
          </a:xfrm>
          <a:prstGeom prst="rect">
            <a:avLst/>
          </a:prstGeom>
          <a:solidFill>
            <a:srgbClr val="E67E22"/>
          </a:solidFill>
          <a:ln w="12700">
            <a:solidFill>
              <a:srgbClr val="E67E22"/>
            </a:solidFill>
            <a:prstDash val="solid"/>
          </a:ln>
        </p:spPr>
      </p:sp>
      <p:sp>
        <p:nvSpPr>
          <p:cNvPr id="22" name="Text 20"/>
          <p:cNvSpPr/>
          <p:nvPr/>
        </p:nvSpPr>
        <p:spPr>
          <a:xfrm>
            <a:off x="8275320" y="2788920"/>
            <a:ext cx="347472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0A1628"/>
                </a:solidFill>
              </a:rPr>
              <a:t>Risk Classification</a:t>
            </a:r>
            <a:endParaRPr lang="en-US" sz="1200" dirty="0"/>
          </a:p>
        </p:txBody>
      </p:sp>
      <p:sp>
        <p:nvSpPr>
          <p:cNvPr id="23" name="Text 21"/>
          <p:cNvSpPr/>
          <p:nvPr/>
        </p:nvSpPr>
        <p:spPr>
          <a:xfrm>
            <a:off x="8275320" y="3090672"/>
            <a:ext cx="34747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475569"/>
                </a:solidFill>
              </a:rPr>
              <a:t>Classify employees as High, Medium, Low attrition risk</a:t>
            </a:r>
            <a:endParaRPr lang="en-US" sz="950" dirty="0"/>
          </a:p>
        </p:txBody>
      </p:sp>
      <p:sp>
        <p:nvSpPr>
          <p:cNvPr id="24" name="Shape 22"/>
          <p:cNvSpPr/>
          <p:nvPr/>
        </p:nvSpPr>
        <p:spPr>
          <a:xfrm>
            <a:off x="320040" y="3913632"/>
            <a:ext cx="3657600" cy="914400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sx="100000" sy="100000" kx="0" ky="0" algn="bl" rotWithShape="0" blurRad="88900" dist="38100" dir="8100000">
              <a:srgbClr val="000000">
                <a:alpha val="18000"/>
              </a:srgbClr>
            </a:outerShdw>
          </a:effectLst>
        </p:spPr>
      </p:sp>
      <p:sp>
        <p:nvSpPr>
          <p:cNvPr id="25" name="Shape 23"/>
          <p:cNvSpPr/>
          <p:nvPr/>
        </p:nvSpPr>
        <p:spPr>
          <a:xfrm>
            <a:off x="320040" y="3913632"/>
            <a:ext cx="3657600" cy="201168"/>
          </a:xfrm>
          <a:prstGeom prst="rect">
            <a:avLst/>
          </a:prstGeom>
          <a:solidFill>
            <a:srgbClr val="1D6F42"/>
          </a:solidFill>
          <a:ln w="12700">
            <a:solidFill>
              <a:srgbClr val="1D6F42"/>
            </a:solidFill>
            <a:prstDash val="solid"/>
          </a:ln>
        </p:spPr>
      </p:sp>
      <p:sp>
        <p:nvSpPr>
          <p:cNvPr id="26" name="Text 24"/>
          <p:cNvSpPr/>
          <p:nvPr/>
        </p:nvSpPr>
        <p:spPr>
          <a:xfrm>
            <a:off x="411480" y="4160520"/>
            <a:ext cx="34747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0A1628"/>
                </a:solidFill>
              </a:rPr>
              <a:t>MICROSOFT EXCEL</a:t>
            </a:r>
            <a:endParaRPr lang="en-US" sz="1000" dirty="0"/>
          </a:p>
        </p:txBody>
      </p:sp>
      <p:sp>
        <p:nvSpPr>
          <p:cNvPr id="27" name="Text 25"/>
          <p:cNvSpPr/>
          <p:nvPr/>
        </p:nvSpPr>
        <p:spPr>
          <a:xfrm>
            <a:off x="411480" y="4407408"/>
            <a:ext cx="34747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94A3B8"/>
                </a:solidFill>
              </a:rPr>
              <a:t>Data Cleaning  •  4 Pivot Tables  •  Charts  •  Dashboard</a:t>
            </a:r>
            <a:endParaRPr lang="en-US" sz="850" dirty="0"/>
          </a:p>
        </p:txBody>
      </p:sp>
      <p:sp>
        <p:nvSpPr>
          <p:cNvPr id="28" name="Shape 26"/>
          <p:cNvSpPr/>
          <p:nvPr/>
        </p:nvSpPr>
        <p:spPr>
          <a:xfrm>
            <a:off x="4251960" y="3913632"/>
            <a:ext cx="3657600" cy="914400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sx="100000" sy="100000" kx="0" ky="0" algn="bl" rotWithShape="0" blurRad="88900" dist="38100" dir="8100000">
              <a:srgbClr val="000000">
                <a:alpha val="18000"/>
              </a:srgbClr>
            </a:outerShdw>
          </a:effectLst>
        </p:spPr>
      </p:sp>
      <p:sp>
        <p:nvSpPr>
          <p:cNvPr id="29" name="Shape 27"/>
          <p:cNvSpPr/>
          <p:nvPr/>
        </p:nvSpPr>
        <p:spPr>
          <a:xfrm>
            <a:off x="4251960" y="3913632"/>
            <a:ext cx="3657600" cy="201168"/>
          </a:xfrm>
          <a:prstGeom prst="rect">
            <a:avLst/>
          </a:prstGeom>
          <a:solidFill>
            <a:srgbClr val="E67E22"/>
          </a:solidFill>
          <a:ln w="12700">
            <a:solidFill>
              <a:srgbClr val="E67E22"/>
            </a:solidFill>
            <a:prstDash val="solid"/>
          </a:ln>
        </p:spPr>
      </p:sp>
      <p:sp>
        <p:nvSpPr>
          <p:cNvPr id="30" name="Text 28"/>
          <p:cNvSpPr/>
          <p:nvPr/>
        </p:nvSpPr>
        <p:spPr>
          <a:xfrm>
            <a:off x="4343400" y="4160520"/>
            <a:ext cx="34747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0A1628"/>
                </a:solidFill>
              </a:rPr>
              <a:t>MySQL WORKBENCH</a:t>
            </a:r>
            <a:endParaRPr lang="en-US" sz="1000" dirty="0"/>
          </a:p>
        </p:txBody>
      </p:sp>
      <p:sp>
        <p:nvSpPr>
          <p:cNvPr id="31" name="Text 29"/>
          <p:cNvSpPr/>
          <p:nvPr/>
        </p:nvSpPr>
        <p:spPr>
          <a:xfrm>
            <a:off x="4343400" y="4407408"/>
            <a:ext cx="34747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94A3B8"/>
                </a:solidFill>
              </a:rPr>
              <a:t>18 Queries  •  JOIN  •  CTE  •  VIEW  •  Subqueries</a:t>
            </a:r>
            <a:endParaRPr lang="en-US" sz="850" dirty="0"/>
          </a:p>
        </p:txBody>
      </p:sp>
      <p:sp>
        <p:nvSpPr>
          <p:cNvPr id="32" name="Shape 30"/>
          <p:cNvSpPr/>
          <p:nvPr/>
        </p:nvSpPr>
        <p:spPr>
          <a:xfrm>
            <a:off x="8183880" y="3913632"/>
            <a:ext cx="3657600" cy="914400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sx="100000" sy="100000" kx="0" ky="0" algn="bl" rotWithShape="0" blurRad="88900" dist="38100" dir="8100000">
              <a:srgbClr val="000000">
                <a:alpha val="18000"/>
              </a:srgbClr>
            </a:outerShdw>
          </a:effectLst>
        </p:spPr>
      </p:sp>
      <p:sp>
        <p:nvSpPr>
          <p:cNvPr id="33" name="Shape 31"/>
          <p:cNvSpPr/>
          <p:nvPr/>
        </p:nvSpPr>
        <p:spPr>
          <a:xfrm>
            <a:off x="8183880" y="3913632"/>
            <a:ext cx="3657600" cy="201168"/>
          </a:xfrm>
          <a:prstGeom prst="rect">
            <a:avLst/>
          </a:prstGeom>
          <a:solidFill>
            <a:srgbClr val="F1C40F"/>
          </a:solidFill>
          <a:ln w="12700">
            <a:solidFill>
              <a:srgbClr val="F1C40F"/>
            </a:solidFill>
            <a:prstDash val="solid"/>
          </a:ln>
        </p:spPr>
      </p:sp>
      <p:sp>
        <p:nvSpPr>
          <p:cNvPr id="34" name="Text 32"/>
          <p:cNvSpPr/>
          <p:nvPr/>
        </p:nvSpPr>
        <p:spPr>
          <a:xfrm>
            <a:off x="8275320" y="4160520"/>
            <a:ext cx="34747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0A1628"/>
                </a:solidFill>
              </a:rPr>
              <a:t>MICROSOFT POWER BI</a:t>
            </a:r>
            <a:endParaRPr lang="en-US" sz="1000" dirty="0"/>
          </a:p>
        </p:txBody>
      </p:sp>
      <p:sp>
        <p:nvSpPr>
          <p:cNvPr id="35" name="Text 33"/>
          <p:cNvSpPr/>
          <p:nvPr/>
        </p:nvSpPr>
        <p:spPr>
          <a:xfrm>
            <a:off x="8275320" y="4407408"/>
            <a:ext cx="34747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94A3B8"/>
                </a:solidFill>
              </a:rPr>
              <a:t>4 Dashboards  •  228 Visuals  •  DAX  •  Dark Green Theme</a:t>
            </a:r>
            <a:endParaRPr lang="en-US" sz="850" dirty="0"/>
          </a:p>
        </p:txBody>
      </p:sp>
      <p:sp>
        <p:nvSpPr>
          <p:cNvPr id="36" name="Shape 34"/>
          <p:cNvSpPr/>
          <p:nvPr/>
        </p:nvSpPr>
        <p:spPr>
          <a:xfrm>
            <a:off x="320040" y="5029200"/>
            <a:ext cx="11521440" cy="1097280"/>
          </a:xfrm>
          <a:prstGeom prst="rect">
            <a:avLst/>
          </a:prstGeom>
          <a:solidFill>
            <a:srgbClr val="162032"/>
          </a:solidFill>
          <a:ln w="12700">
            <a:solidFill>
              <a:srgbClr val="E2E8F0"/>
            </a:solidFill>
            <a:prstDash val="solid"/>
          </a:ln>
          <a:effectLst>
            <a:outerShdw sx="100000" sy="100000" kx="0" ky="0" algn="bl" rotWithShape="0" blurRad="88900" dist="38100" dir="8100000">
              <a:srgbClr val="000000">
                <a:alpha val="18000"/>
              </a:srgbClr>
            </a:outerShdw>
          </a:effectLst>
        </p:spPr>
      </p:sp>
      <p:sp>
        <p:nvSpPr>
          <p:cNvPr id="37" name="Text 35"/>
          <p:cNvSpPr/>
          <p:nvPr/>
        </p:nvSpPr>
        <p:spPr>
          <a:xfrm>
            <a:off x="457200" y="5102352"/>
            <a:ext cx="27432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spc="200" kern="0" dirty="0">
                <a:solidFill>
                  <a:srgbClr val="FFD700"/>
                </a:solidFill>
              </a:rPr>
              <a:t>6-DAY PROJECT TIMELINE</a:t>
            </a:r>
            <a:endParaRPr lang="en-US" sz="900" dirty="0"/>
          </a:p>
        </p:txBody>
      </p:sp>
      <p:sp>
        <p:nvSpPr>
          <p:cNvPr id="38" name="Shape 36"/>
          <p:cNvSpPr/>
          <p:nvPr/>
        </p:nvSpPr>
        <p:spPr>
          <a:xfrm>
            <a:off x="457200" y="5394960"/>
            <a:ext cx="1719072" cy="594360"/>
          </a:xfrm>
          <a:prstGeom prst="rect">
            <a:avLst/>
          </a:prstGeom>
          <a:solidFill>
            <a:srgbClr val="1A472A"/>
          </a:solidFill>
          <a:ln w="12700">
            <a:solidFill>
              <a:srgbClr val="FFD700"/>
            </a:solidFill>
            <a:prstDash val="solid"/>
          </a:ln>
        </p:spPr>
      </p:sp>
      <p:sp>
        <p:nvSpPr>
          <p:cNvPr id="39" name="Text 37"/>
          <p:cNvSpPr/>
          <p:nvPr/>
        </p:nvSpPr>
        <p:spPr>
          <a:xfrm>
            <a:off x="457200" y="5394960"/>
            <a:ext cx="1719072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50" b="1" dirty="0">
                <a:solidFill>
                  <a:srgbClr val="FFD700"/>
                </a:solidFill>
              </a:rPr>
              <a:t>Day 1</a:t>
            </a:r>
            <a:endParaRPr lang="en-US" sz="850" dirty="0"/>
          </a:p>
        </p:txBody>
      </p:sp>
      <p:sp>
        <p:nvSpPr>
          <p:cNvPr id="40" name="Text 38"/>
          <p:cNvSpPr/>
          <p:nvPr/>
        </p:nvSpPr>
        <p:spPr>
          <a:xfrm>
            <a:off x="457200" y="5596128"/>
            <a:ext cx="1719072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spcBef>
                <a:spcPts val="100"/>
              </a:spcBef>
              <a:buNone/>
            </a:pPr>
            <a:r>
              <a:rPr lang="en-US" sz="800" dirty="0">
                <a:solidFill>
                  <a:srgbClr val="FFFFFF"/>
                </a:solidFill>
              </a:rPr>
              <a:t>Dataset Download</a:t>
            </a:r>
            <a:endParaRPr lang="en-US" sz="800" dirty="0"/>
          </a:p>
          <a:p>
            <a:pPr algn="ctr" indent="0" marL="0">
              <a:spcBef>
                <a:spcPts val="100"/>
              </a:spcBef>
              <a:buNone/>
            </a:pPr>
            <a:r>
              <a:rPr lang="en-US" sz="800" dirty="0">
                <a:solidFill>
                  <a:srgbClr val="FFFFFF"/>
                </a:solidFill>
              </a:rPr>
              <a:t>&amp; Cleaning</a:t>
            </a:r>
            <a:endParaRPr lang="en-US" sz="800" dirty="0"/>
          </a:p>
        </p:txBody>
      </p:sp>
      <p:sp>
        <p:nvSpPr>
          <p:cNvPr id="41" name="Shape 39"/>
          <p:cNvSpPr/>
          <p:nvPr/>
        </p:nvSpPr>
        <p:spPr>
          <a:xfrm>
            <a:off x="2331720" y="5394960"/>
            <a:ext cx="1719072" cy="594360"/>
          </a:xfrm>
          <a:prstGeom prst="rect">
            <a:avLst/>
          </a:prstGeom>
          <a:solidFill>
            <a:srgbClr val="1A472A"/>
          </a:solidFill>
          <a:ln w="12700">
            <a:solidFill>
              <a:srgbClr val="FFD700"/>
            </a:solidFill>
            <a:prstDash val="solid"/>
          </a:ln>
        </p:spPr>
      </p:sp>
      <p:sp>
        <p:nvSpPr>
          <p:cNvPr id="42" name="Text 40"/>
          <p:cNvSpPr/>
          <p:nvPr/>
        </p:nvSpPr>
        <p:spPr>
          <a:xfrm>
            <a:off x="2331720" y="5394960"/>
            <a:ext cx="1719072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50" b="1" dirty="0">
                <a:solidFill>
                  <a:srgbClr val="FFD700"/>
                </a:solidFill>
              </a:rPr>
              <a:t>Day 2</a:t>
            </a:r>
            <a:endParaRPr lang="en-US" sz="850" dirty="0"/>
          </a:p>
        </p:txBody>
      </p:sp>
      <p:sp>
        <p:nvSpPr>
          <p:cNvPr id="43" name="Text 41"/>
          <p:cNvSpPr/>
          <p:nvPr/>
        </p:nvSpPr>
        <p:spPr>
          <a:xfrm>
            <a:off x="2331720" y="5596128"/>
            <a:ext cx="1719072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spcBef>
                <a:spcPts val="100"/>
              </a:spcBef>
              <a:buNone/>
            </a:pPr>
            <a:r>
              <a:rPr lang="en-US" sz="800" dirty="0">
                <a:solidFill>
                  <a:srgbClr val="FFFFFF"/>
                </a:solidFill>
              </a:rPr>
              <a:t>Excel Pivot</a:t>
            </a:r>
            <a:endParaRPr lang="en-US" sz="800" dirty="0"/>
          </a:p>
          <a:p>
            <a:pPr algn="ctr" indent="0" marL="0">
              <a:spcBef>
                <a:spcPts val="100"/>
              </a:spcBef>
              <a:buNone/>
            </a:pPr>
            <a:r>
              <a:rPr lang="en-US" sz="800" dirty="0">
                <a:solidFill>
                  <a:srgbClr val="FFFFFF"/>
                </a:solidFill>
              </a:rPr>
              <a:t>Tables</a:t>
            </a:r>
            <a:endParaRPr lang="en-US" sz="800" dirty="0"/>
          </a:p>
        </p:txBody>
      </p:sp>
      <p:sp>
        <p:nvSpPr>
          <p:cNvPr id="44" name="Shape 42"/>
          <p:cNvSpPr/>
          <p:nvPr/>
        </p:nvSpPr>
        <p:spPr>
          <a:xfrm>
            <a:off x="4206240" y="5394960"/>
            <a:ext cx="1719072" cy="594360"/>
          </a:xfrm>
          <a:prstGeom prst="rect">
            <a:avLst/>
          </a:prstGeom>
          <a:solidFill>
            <a:srgbClr val="1A472A"/>
          </a:solidFill>
          <a:ln w="12700">
            <a:solidFill>
              <a:srgbClr val="FFD700"/>
            </a:solidFill>
            <a:prstDash val="solid"/>
          </a:ln>
        </p:spPr>
      </p:sp>
      <p:sp>
        <p:nvSpPr>
          <p:cNvPr id="45" name="Text 43"/>
          <p:cNvSpPr/>
          <p:nvPr/>
        </p:nvSpPr>
        <p:spPr>
          <a:xfrm>
            <a:off x="4206240" y="5394960"/>
            <a:ext cx="1719072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50" b="1" dirty="0">
                <a:solidFill>
                  <a:srgbClr val="FFD700"/>
                </a:solidFill>
              </a:rPr>
              <a:t>Day 3</a:t>
            </a:r>
            <a:endParaRPr lang="en-US" sz="850" dirty="0"/>
          </a:p>
        </p:txBody>
      </p:sp>
      <p:sp>
        <p:nvSpPr>
          <p:cNvPr id="46" name="Text 44"/>
          <p:cNvSpPr/>
          <p:nvPr/>
        </p:nvSpPr>
        <p:spPr>
          <a:xfrm>
            <a:off x="4206240" y="5596128"/>
            <a:ext cx="1719072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spcBef>
                <a:spcPts val="100"/>
              </a:spcBef>
              <a:buNone/>
            </a:pPr>
            <a:r>
              <a:rPr lang="en-US" sz="800" dirty="0">
                <a:solidFill>
                  <a:srgbClr val="FFFFFF"/>
                </a:solidFill>
              </a:rPr>
              <a:t>SQL Queries</a:t>
            </a:r>
            <a:endParaRPr lang="en-US" sz="800" dirty="0"/>
          </a:p>
          <a:p>
            <a:pPr algn="ctr" indent="0" marL="0">
              <a:spcBef>
                <a:spcPts val="100"/>
              </a:spcBef>
              <a:buNone/>
            </a:pPr>
            <a:r>
              <a:rPr lang="en-US" sz="800" dirty="0">
                <a:solidFill>
                  <a:srgbClr val="FFFFFF"/>
                </a:solidFill>
              </a:rPr>
              <a:t>&amp; Analysis</a:t>
            </a:r>
            <a:endParaRPr lang="en-US" sz="800" dirty="0"/>
          </a:p>
        </p:txBody>
      </p:sp>
      <p:sp>
        <p:nvSpPr>
          <p:cNvPr id="47" name="Shape 45"/>
          <p:cNvSpPr/>
          <p:nvPr/>
        </p:nvSpPr>
        <p:spPr>
          <a:xfrm>
            <a:off x="6080760" y="5394960"/>
            <a:ext cx="1719072" cy="594360"/>
          </a:xfrm>
          <a:prstGeom prst="rect">
            <a:avLst/>
          </a:prstGeom>
          <a:solidFill>
            <a:srgbClr val="1A472A"/>
          </a:solidFill>
          <a:ln w="12700">
            <a:solidFill>
              <a:srgbClr val="FFD700"/>
            </a:solidFill>
            <a:prstDash val="solid"/>
          </a:ln>
        </p:spPr>
      </p:sp>
      <p:sp>
        <p:nvSpPr>
          <p:cNvPr id="48" name="Text 46"/>
          <p:cNvSpPr/>
          <p:nvPr/>
        </p:nvSpPr>
        <p:spPr>
          <a:xfrm>
            <a:off x="6080760" y="5394960"/>
            <a:ext cx="1719072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50" b="1" dirty="0">
                <a:solidFill>
                  <a:srgbClr val="FFD700"/>
                </a:solidFill>
              </a:rPr>
              <a:t>Day 4</a:t>
            </a:r>
            <a:endParaRPr lang="en-US" sz="850" dirty="0"/>
          </a:p>
        </p:txBody>
      </p:sp>
      <p:sp>
        <p:nvSpPr>
          <p:cNvPr id="49" name="Text 47"/>
          <p:cNvSpPr/>
          <p:nvPr/>
        </p:nvSpPr>
        <p:spPr>
          <a:xfrm>
            <a:off x="6080760" y="5596128"/>
            <a:ext cx="1719072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spcBef>
                <a:spcPts val="100"/>
              </a:spcBef>
              <a:buNone/>
            </a:pPr>
            <a:r>
              <a:rPr lang="en-US" sz="800" dirty="0">
                <a:solidFill>
                  <a:srgbClr val="FFFFFF"/>
                </a:solidFill>
              </a:rPr>
              <a:t>Power BI</a:t>
            </a:r>
            <a:endParaRPr lang="en-US" sz="800" dirty="0"/>
          </a:p>
          <a:p>
            <a:pPr algn="ctr" indent="0" marL="0">
              <a:spcBef>
                <a:spcPts val="100"/>
              </a:spcBef>
              <a:buNone/>
            </a:pPr>
            <a:r>
              <a:rPr lang="en-US" sz="800" dirty="0">
                <a:solidFill>
                  <a:srgbClr val="FFFFFF"/>
                </a:solidFill>
              </a:rPr>
              <a:t>Setup</a:t>
            </a:r>
            <a:endParaRPr lang="en-US" sz="800" dirty="0"/>
          </a:p>
        </p:txBody>
      </p:sp>
      <p:sp>
        <p:nvSpPr>
          <p:cNvPr id="50" name="Shape 48"/>
          <p:cNvSpPr/>
          <p:nvPr/>
        </p:nvSpPr>
        <p:spPr>
          <a:xfrm>
            <a:off x="7955280" y="5394960"/>
            <a:ext cx="1719072" cy="594360"/>
          </a:xfrm>
          <a:prstGeom prst="rect">
            <a:avLst/>
          </a:prstGeom>
          <a:solidFill>
            <a:srgbClr val="1A472A"/>
          </a:solidFill>
          <a:ln w="12700">
            <a:solidFill>
              <a:srgbClr val="FFD700"/>
            </a:solidFill>
            <a:prstDash val="solid"/>
          </a:ln>
        </p:spPr>
      </p:sp>
      <p:sp>
        <p:nvSpPr>
          <p:cNvPr id="51" name="Text 49"/>
          <p:cNvSpPr/>
          <p:nvPr/>
        </p:nvSpPr>
        <p:spPr>
          <a:xfrm>
            <a:off x="7955280" y="5394960"/>
            <a:ext cx="1719072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50" b="1" dirty="0">
                <a:solidFill>
                  <a:srgbClr val="FFD700"/>
                </a:solidFill>
              </a:rPr>
              <a:t>Day 5</a:t>
            </a:r>
            <a:endParaRPr lang="en-US" sz="850" dirty="0"/>
          </a:p>
        </p:txBody>
      </p:sp>
      <p:sp>
        <p:nvSpPr>
          <p:cNvPr id="52" name="Text 50"/>
          <p:cNvSpPr/>
          <p:nvPr/>
        </p:nvSpPr>
        <p:spPr>
          <a:xfrm>
            <a:off x="7955280" y="5596128"/>
            <a:ext cx="1719072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spcBef>
                <a:spcPts val="100"/>
              </a:spcBef>
              <a:buNone/>
            </a:pPr>
            <a:r>
              <a:rPr lang="en-US" sz="800" dirty="0">
                <a:solidFill>
                  <a:srgbClr val="FFFFFF"/>
                </a:solidFill>
              </a:rPr>
              <a:t>Dashboards</a:t>
            </a:r>
            <a:endParaRPr lang="en-US" sz="800" dirty="0"/>
          </a:p>
          <a:p>
            <a:pPr algn="ctr" indent="0" marL="0">
              <a:spcBef>
                <a:spcPts val="100"/>
              </a:spcBef>
              <a:buNone/>
            </a:pPr>
            <a:r>
              <a:rPr lang="en-US" sz="800" dirty="0">
                <a:solidFill>
                  <a:srgbClr val="FFFFFF"/>
                </a:solidFill>
              </a:rPr>
              <a:t>Complete</a:t>
            </a:r>
            <a:endParaRPr lang="en-US" sz="800" dirty="0"/>
          </a:p>
        </p:txBody>
      </p:sp>
      <p:sp>
        <p:nvSpPr>
          <p:cNvPr id="53" name="Shape 51"/>
          <p:cNvSpPr/>
          <p:nvPr/>
        </p:nvSpPr>
        <p:spPr>
          <a:xfrm>
            <a:off x="9829800" y="5394960"/>
            <a:ext cx="1719072" cy="594360"/>
          </a:xfrm>
          <a:prstGeom prst="rect">
            <a:avLst/>
          </a:prstGeom>
          <a:solidFill>
            <a:srgbClr val="1A472A"/>
          </a:solidFill>
          <a:ln w="12700">
            <a:solidFill>
              <a:srgbClr val="FFD700"/>
            </a:solidFill>
            <a:prstDash val="solid"/>
          </a:ln>
        </p:spPr>
      </p:sp>
      <p:sp>
        <p:nvSpPr>
          <p:cNvPr id="54" name="Text 52"/>
          <p:cNvSpPr/>
          <p:nvPr/>
        </p:nvSpPr>
        <p:spPr>
          <a:xfrm>
            <a:off x="9829800" y="5394960"/>
            <a:ext cx="1719072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50" b="1" dirty="0">
                <a:solidFill>
                  <a:srgbClr val="FFD700"/>
                </a:solidFill>
              </a:rPr>
              <a:t>Day 6</a:t>
            </a:r>
            <a:endParaRPr lang="en-US" sz="850" dirty="0"/>
          </a:p>
        </p:txBody>
      </p:sp>
      <p:sp>
        <p:nvSpPr>
          <p:cNvPr id="55" name="Text 53"/>
          <p:cNvSpPr/>
          <p:nvPr/>
        </p:nvSpPr>
        <p:spPr>
          <a:xfrm>
            <a:off x="9829800" y="5596128"/>
            <a:ext cx="1719072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spcBef>
                <a:spcPts val="100"/>
              </a:spcBef>
              <a:buNone/>
            </a:pPr>
            <a:r>
              <a:rPr lang="en-US" sz="800" dirty="0">
                <a:solidFill>
                  <a:srgbClr val="FFFFFF"/>
                </a:solidFill>
              </a:rPr>
              <a:t>PPT Report</a:t>
            </a:r>
            <a:endParaRPr lang="en-US" sz="800" dirty="0"/>
          </a:p>
          <a:p>
            <a:pPr algn="ctr" indent="0" marL="0">
              <a:spcBef>
                <a:spcPts val="100"/>
              </a:spcBef>
              <a:buNone/>
            </a:pPr>
            <a:r>
              <a:rPr lang="en-US" sz="800" dirty="0">
                <a:solidFill>
                  <a:srgbClr val="FFFFFF"/>
                </a:solidFill>
              </a:rPr>
              <a:t>&amp; GitHub</a:t>
            </a:r>
            <a:endParaRPr lang="en-US" sz="8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8FA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61520" cy="987552"/>
          </a:xfrm>
          <a:prstGeom prst="rect">
            <a:avLst/>
          </a:prstGeom>
          <a:solidFill>
            <a:srgbClr val="0A1628"/>
          </a:solidFill>
          <a:ln w="12700">
            <a:solidFill>
              <a:srgbClr val="0A1628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987552"/>
            <a:ext cx="12161520" cy="54864"/>
          </a:xfrm>
          <a:prstGeom prst="rect">
            <a:avLst/>
          </a:prstGeom>
          <a:solidFill>
            <a:srgbClr val="FFD700"/>
          </a:solidFill>
          <a:ln w="12700">
            <a:solidFill>
              <a:srgbClr val="FFD700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365760" y="64008"/>
            <a:ext cx="1143000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Dataset Overview</a:t>
            </a:r>
            <a:endParaRPr lang="en-US" sz="2100" dirty="0"/>
          </a:p>
        </p:txBody>
      </p:sp>
      <p:sp>
        <p:nvSpPr>
          <p:cNvPr id="5" name="Text 3"/>
          <p:cNvSpPr/>
          <p:nvPr/>
        </p:nvSpPr>
        <p:spPr>
          <a:xfrm>
            <a:off x="365760" y="566928"/>
            <a:ext cx="11430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94A3B8"/>
                </a:solidFill>
              </a:rPr>
              <a:t>IBM HR Analytics Attrition Dataset  |  Kaggle  |  1,470 Employees</a:t>
            </a:r>
            <a:endParaRPr lang="en-US" sz="1050" dirty="0"/>
          </a:p>
        </p:txBody>
      </p:sp>
      <p:sp>
        <p:nvSpPr>
          <p:cNvPr id="6" name="Shape 4"/>
          <p:cNvSpPr/>
          <p:nvPr/>
        </p:nvSpPr>
        <p:spPr>
          <a:xfrm>
            <a:off x="0" y="6601968"/>
            <a:ext cx="12161520" cy="256032"/>
          </a:xfrm>
          <a:prstGeom prst="rect">
            <a:avLst/>
          </a:prstGeom>
          <a:solidFill>
            <a:srgbClr val="0A1628"/>
          </a:solidFill>
          <a:ln w="12700">
            <a:solidFill>
              <a:srgbClr val="0A1628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365760" y="6620256"/>
            <a:ext cx="114300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50" dirty="0">
                <a:solidFill>
                  <a:srgbClr val="94A3B8"/>
                </a:solidFill>
              </a:rPr>
              <a:t>HR Attrition Analysis  •  Rohan Kumar  •  6-Day Project  •  2024</a:t>
            </a:r>
            <a:endParaRPr lang="en-US" sz="750" dirty="0"/>
          </a:p>
        </p:txBody>
      </p:sp>
      <p:sp>
        <p:nvSpPr>
          <p:cNvPr id="8" name="Shape 6"/>
          <p:cNvSpPr/>
          <p:nvPr/>
        </p:nvSpPr>
        <p:spPr>
          <a:xfrm>
            <a:off x="320040" y="1188720"/>
            <a:ext cx="1755648" cy="987552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sx="100000" sy="100000" kx="0" ky="0" algn="bl" rotWithShape="0" blurRad="88900" dist="38100" dir="8100000">
              <a:srgbClr val="000000">
                <a:alpha val="18000"/>
              </a:srgbClr>
            </a:outerShdw>
          </a:effectLst>
        </p:spPr>
      </p:sp>
      <p:sp>
        <p:nvSpPr>
          <p:cNvPr id="9" name="Shape 7"/>
          <p:cNvSpPr/>
          <p:nvPr/>
        </p:nvSpPr>
        <p:spPr>
          <a:xfrm>
            <a:off x="320040" y="1188720"/>
            <a:ext cx="1755648" cy="164592"/>
          </a:xfrm>
          <a:prstGeom prst="rect">
            <a:avLst/>
          </a:prstGeom>
          <a:solidFill>
            <a:srgbClr val="FFD700"/>
          </a:solidFill>
          <a:ln w="12700">
            <a:solidFill>
              <a:srgbClr val="FFD700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320040" y="1371600"/>
            <a:ext cx="17556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0A1628"/>
                </a:solidFill>
              </a:rPr>
              <a:t>1,470</a:t>
            </a:r>
            <a:endParaRPr lang="en-US" sz="1800" dirty="0"/>
          </a:p>
        </p:txBody>
      </p:sp>
      <p:sp>
        <p:nvSpPr>
          <p:cNvPr id="11" name="Text 9"/>
          <p:cNvSpPr/>
          <p:nvPr/>
        </p:nvSpPr>
        <p:spPr>
          <a:xfrm>
            <a:off x="320040" y="1755648"/>
            <a:ext cx="1755648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50" dirty="0">
                <a:solidFill>
                  <a:srgbClr val="94A3B8"/>
                </a:solidFill>
              </a:rPr>
              <a:t>Total Employees</a:t>
            </a:r>
            <a:endParaRPr lang="en-US" sz="850" dirty="0"/>
          </a:p>
        </p:txBody>
      </p:sp>
      <p:sp>
        <p:nvSpPr>
          <p:cNvPr id="12" name="Shape 10"/>
          <p:cNvSpPr/>
          <p:nvPr/>
        </p:nvSpPr>
        <p:spPr>
          <a:xfrm>
            <a:off x="2286000" y="1188720"/>
            <a:ext cx="1755648" cy="987552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sx="100000" sy="100000" kx="0" ky="0" algn="bl" rotWithShape="0" blurRad="88900" dist="38100" dir="8100000">
              <a:srgbClr val="000000">
                <a:alpha val="18000"/>
              </a:srgbClr>
            </a:outerShdw>
          </a:effectLst>
        </p:spPr>
      </p:sp>
      <p:sp>
        <p:nvSpPr>
          <p:cNvPr id="13" name="Shape 11"/>
          <p:cNvSpPr/>
          <p:nvPr/>
        </p:nvSpPr>
        <p:spPr>
          <a:xfrm>
            <a:off x="2286000" y="1188720"/>
            <a:ext cx="1755648" cy="164592"/>
          </a:xfrm>
          <a:prstGeom prst="rect">
            <a:avLst/>
          </a:prstGeom>
          <a:solidFill>
            <a:srgbClr val="8B5CF6"/>
          </a:solidFill>
          <a:ln w="12700">
            <a:solidFill>
              <a:srgbClr val="8B5CF6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2286000" y="1371600"/>
            <a:ext cx="17556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0A1628"/>
                </a:solidFill>
              </a:rPr>
              <a:t>35</a:t>
            </a:r>
            <a:endParaRPr lang="en-US" sz="1800" dirty="0"/>
          </a:p>
        </p:txBody>
      </p:sp>
      <p:sp>
        <p:nvSpPr>
          <p:cNvPr id="15" name="Text 13"/>
          <p:cNvSpPr/>
          <p:nvPr/>
        </p:nvSpPr>
        <p:spPr>
          <a:xfrm>
            <a:off x="2286000" y="1755648"/>
            <a:ext cx="1755648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50" dirty="0">
                <a:solidFill>
                  <a:srgbClr val="94A3B8"/>
                </a:solidFill>
              </a:rPr>
              <a:t>Columns</a:t>
            </a:r>
            <a:endParaRPr lang="en-US" sz="850" dirty="0"/>
          </a:p>
        </p:txBody>
      </p:sp>
      <p:sp>
        <p:nvSpPr>
          <p:cNvPr id="16" name="Shape 14"/>
          <p:cNvSpPr/>
          <p:nvPr/>
        </p:nvSpPr>
        <p:spPr>
          <a:xfrm>
            <a:off x="4251960" y="1188720"/>
            <a:ext cx="1755648" cy="987552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sx="100000" sy="100000" kx="0" ky="0" algn="bl" rotWithShape="0" blurRad="88900" dist="38100" dir="8100000">
              <a:srgbClr val="000000">
                <a:alpha val="18000"/>
              </a:srgbClr>
            </a:outerShdw>
          </a:effectLst>
        </p:spPr>
      </p:sp>
      <p:sp>
        <p:nvSpPr>
          <p:cNvPr id="17" name="Shape 15"/>
          <p:cNvSpPr/>
          <p:nvPr/>
        </p:nvSpPr>
        <p:spPr>
          <a:xfrm>
            <a:off x="4251960" y="1188720"/>
            <a:ext cx="1755648" cy="164592"/>
          </a:xfrm>
          <a:prstGeom prst="rect">
            <a:avLst/>
          </a:prstGeom>
          <a:solidFill>
            <a:srgbClr val="EF4444"/>
          </a:solidFill>
          <a:ln w="12700">
            <a:solidFill>
              <a:srgbClr val="EF4444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4251960" y="1371600"/>
            <a:ext cx="17556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0A1628"/>
                </a:solidFill>
              </a:rPr>
              <a:t>16.12%</a:t>
            </a:r>
            <a:endParaRPr lang="en-US" sz="1800" dirty="0"/>
          </a:p>
        </p:txBody>
      </p:sp>
      <p:sp>
        <p:nvSpPr>
          <p:cNvPr id="19" name="Text 17"/>
          <p:cNvSpPr/>
          <p:nvPr/>
        </p:nvSpPr>
        <p:spPr>
          <a:xfrm>
            <a:off x="4251960" y="1755648"/>
            <a:ext cx="1755648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50" dirty="0">
                <a:solidFill>
                  <a:srgbClr val="94A3B8"/>
                </a:solidFill>
              </a:rPr>
              <a:t>Attrition Rate</a:t>
            </a:r>
            <a:endParaRPr lang="en-US" sz="850" dirty="0"/>
          </a:p>
        </p:txBody>
      </p:sp>
      <p:sp>
        <p:nvSpPr>
          <p:cNvPr id="20" name="Shape 18"/>
          <p:cNvSpPr/>
          <p:nvPr/>
        </p:nvSpPr>
        <p:spPr>
          <a:xfrm>
            <a:off x="6217920" y="1188720"/>
            <a:ext cx="1755648" cy="987552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sx="100000" sy="100000" kx="0" ky="0" algn="bl" rotWithShape="0" blurRad="88900" dist="38100" dir="8100000">
              <a:srgbClr val="000000">
                <a:alpha val="18000"/>
              </a:srgbClr>
            </a:outerShdw>
          </a:effectLst>
        </p:spPr>
      </p:sp>
      <p:sp>
        <p:nvSpPr>
          <p:cNvPr id="21" name="Shape 19"/>
          <p:cNvSpPr/>
          <p:nvPr/>
        </p:nvSpPr>
        <p:spPr>
          <a:xfrm>
            <a:off x="6217920" y="1188720"/>
            <a:ext cx="1755648" cy="164592"/>
          </a:xfrm>
          <a:prstGeom prst="rect">
            <a:avLst/>
          </a:prstGeom>
          <a:solidFill>
            <a:srgbClr val="E67E22"/>
          </a:solidFill>
          <a:ln w="12700">
            <a:solidFill>
              <a:srgbClr val="E67E22"/>
            </a:solidFill>
            <a:prstDash val="solid"/>
          </a:ln>
        </p:spPr>
      </p:sp>
      <p:sp>
        <p:nvSpPr>
          <p:cNvPr id="22" name="Text 20"/>
          <p:cNvSpPr/>
          <p:nvPr/>
        </p:nvSpPr>
        <p:spPr>
          <a:xfrm>
            <a:off x="6217920" y="1371600"/>
            <a:ext cx="17556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0A1628"/>
                </a:solidFill>
              </a:rPr>
              <a:t>237</a:t>
            </a:r>
            <a:endParaRPr lang="en-US" sz="1800" dirty="0"/>
          </a:p>
        </p:txBody>
      </p:sp>
      <p:sp>
        <p:nvSpPr>
          <p:cNvPr id="23" name="Text 21"/>
          <p:cNvSpPr/>
          <p:nvPr/>
        </p:nvSpPr>
        <p:spPr>
          <a:xfrm>
            <a:off x="6217920" y="1755648"/>
            <a:ext cx="1755648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50" dirty="0">
                <a:solidFill>
                  <a:srgbClr val="94A3B8"/>
                </a:solidFill>
              </a:rPr>
              <a:t>Left Company</a:t>
            </a:r>
            <a:endParaRPr lang="en-US" sz="850" dirty="0"/>
          </a:p>
        </p:txBody>
      </p:sp>
      <p:sp>
        <p:nvSpPr>
          <p:cNvPr id="24" name="Shape 22"/>
          <p:cNvSpPr/>
          <p:nvPr/>
        </p:nvSpPr>
        <p:spPr>
          <a:xfrm>
            <a:off x="8183880" y="1188720"/>
            <a:ext cx="1755648" cy="987552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sx="100000" sy="100000" kx="0" ky="0" algn="bl" rotWithShape="0" blurRad="88900" dist="38100" dir="8100000">
              <a:srgbClr val="000000">
                <a:alpha val="18000"/>
              </a:srgbClr>
            </a:outerShdw>
          </a:effectLst>
        </p:spPr>
      </p:sp>
      <p:sp>
        <p:nvSpPr>
          <p:cNvPr id="25" name="Shape 23"/>
          <p:cNvSpPr/>
          <p:nvPr/>
        </p:nvSpPr>
        <p:spPr>
          <a:xfrm>
            <a:off x="8183880" y="1188720"/>
            <a:ext cx="1755648" cy="164592"/>
          </a:xfrm>
          <a:prstGeom prst="rect">
            <a:avLst/>
          </a:prstGeom>
          <a:solidFill>
            <a:srgbClr val="22C55E"/>
          </a:solidFill>
          <a:ln w="12700">
            <a:solidFill>
              <a:srgbClr val="22C55E"/>
            </a:solidFill>
            <a:prstDash val="solid"/>
          </a:ln>
        </p:spPr>
      </p:sp>
      <p:sp>
        <p:nvSpPr>
          <p:cNvPr id="26" name="Text 24"/>
          <p:cNvSpPr/>
          <p:nvPr/>
        </p:nvSpPr>
        <p:spPr>
          <a:xfrm>
            <a:off x="8183880" y="1371600"/>
            <a:ext cx="17556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0A1628"/>
                </a:solidFill>
              </a:rPr>
              <a:t>1,233</a:t>
            </a:r>
            <a:endParaRPr lang="en-US" sz="1800" dirty="0"/>
          </a:p>
        </p:txBody>
      </p:sp>
      <p:sp>
        <p:nvSpPr>
          <p:cNvPr id="27" name="Text 25"/>
          <p:cNvSpPr/>
          <p:nvPr/>
        </p:nvSpPr>
        <p:spPr>
          <a:xfrm>
            <a:off x="8183880" y="1755648"/>
            <a:ext cx="1755648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50" dirty="0">
                <a:solidFill>
                  <a:srgbClr val="94A3B8"/>
                </a:solidFill>
              </a:rPr>
              <a:t>Active Employees</a:t>
            </a:r>
            <a:endParaRPr lang="en-US" sz="850" dirty="0"/>
          </a:p>
        </p:txBody>
      </p:sp>
      <p:sp>
        <p:nvSpPr>
          <p:cNvPr id="28" name="Shape 26"/>
          <p:cNvSpPr/>
          <p:nvPr/>
        </p:nvSpPr>
        <p:spPr>
          <a:xfrm>
            <a:off x="10149840" y="1188720"/>
            <a:ext cx="1755648" cy="987552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sx="100000" sy="100000" kx="0" ky="0" algn="bl" rotWithShape="0" blurRad="88900" dist="38100" dir="8100000">
              <a:srgbClr val="000000">
                <a:alpha val="18000"/>
              </a:srgbClr>
            </a:outerShdw>
          </a:effectLst>
        </p:spPr>
      </p:sp>
      <p:sp>
        <p:nvSpPr>
          <p:cNvPr id="29" name="Shape 27"/>
          <p:cNvSpPr/>
          <p:nvPr/>
        </p:nvSpPr>
        <p:spPr>
          <a:xfrm>
            <a:off x="10149840" y="1188720"/>
            <a:ext cx="1755648" cy="164592"/>
          </a:xfrm>
          <a:prstGeom prst="rect">
            <a:avLst/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30" name="Text 28"/>
          <p:cNvSpPr/>
          <p:nvPr/>
        </p:nvSpPr>
        <p:spPr>
          <a:xfrm>
            <a:off x="10149840" y="1371600"/>
            <a:ext cx="17556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0A1628"/>
                </a:solidFill>
              </a:rPr>
              <a:t>3</a:t>
            </a:r>
            <a:endParaRPr lang="en-US" sz="1800" dirty="0"/>
          </a:p>
        </p:txBody>
      </p:sp>
      <p:sp>
        <p:nvSpPr>
          <p:cNvPr id="31" name="Text 29"/>
          <p:cNvSpPr/>
          <p:nvPr/>
        </p:nvSpPr>
        <p:spPr>
          <a:xfrm>
            <a:off x="10149840" y="1755648"/>
            <a:ext cx="1755648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50" dirty="0">
                <a:solidFill>
                  <a:srgbClr val="94A3B8"/>
                </a:solidFill>
              </a:rPr>
              <a:t>Departments</a:t>
            </a:r>
            <a:endParaRPr lang="en-US" sz="850" dirty="0"/>
          </a:p>
        </p:txBody>
      </p:sp>
      <p:sp>
        <p:nvSpPr>
          <p:cNvPr id="32" name="Shape 30"/>
          <p:cNvSpPr/>
          <p:nvPr/>
        </p:nvSpPr>
        <p:spPr>
          <a:xfrm>
            <a:off x="320040" y="2377440"/>
            <a:ext cx="5577840" cy="3657600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sx="100000" sy="100000" kx="0" ky="0" algn="bl" rotWithShape="0" blurRad="88900" dist="38100" dir="8100000">
              <a:srgbClr val="000000">
                <a:alpha val="18000"/>
              </a:srgbClr>
            </a:outerShdw>
          </a:effectLst>
        </p:spPr>
      </p:sp>
      <p:sp>
        <p:nvSpPr>
          <p:cNvPr id="33" name="Shape 31"/>
          <p:cNvSpPr/>
          <p:nvPr/>
        </p:nvSpPr>
        <p:spPr>
          <a:xfrm>
            <a:off x="320040" y="2377440"/>
            <a:ext cx="5577840" cy="329184"/>
          </a:xfrm>
          <a:prstGeom prst="rect">
            <a:avLst/>
          </a:prstGeom>
          <a:solidFill>
            <a:srgbClr val="1A472A"/>
          </a:solidFill>
          <a:ln w="12700">
            <a:solidFill>
              <a:srgbClr val="1A472A"/>
            </a:solidFill>
            <a:prstDash val="solid"/>
          </a:ln>
        </p:spPr>
      </p:sp>
      <p:sp>
        <p:nvSpPr>
          <p:cNvPr id="34" name="Text 32"/>
          <p:cNvSpPr/>
          <p:nvPr/>
        </p:nvSpPr>
        <p:spPr>
          <a:xfrm>
            <a:off x="411480" y="2377440"/>
            <a:ext cx="539496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FFFFFF"/>
                </a:solidFill>
              </a:rPr>
              <a:t>Key Dataset Columns (35 Total)</a:t>
            </a:r>
            <a:endParaRPr lang="en-US" sz="1100" dirty="0"/>
          </a:p>
        </p:txBody>
      </p:sp>
      <p:sp>
        <p:nvSpPr>
          <p:cNvPr id="35" name="Shape 33"/>
          <p:cNvSpPr/>
          <p:nvPr/>
        </p:nvSpPr>
        <p:spPr>
          <a:xfrm>
            <a:off x="411480" y="2788920"/>
            <a:ext cx="1664208" cy="347472"/>
          </a:xfrm>
          <a:prstGeom prst="rect">
            <a:avLst/>
          </a:prstGeom>
          <a:solidFill>
            <a:srgbClr val="F0F4F8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36" name="Text 34"/>
          <p:cNvSpPr/>
          <p:nvPr/>
        </p:nvSpPr>
        <p:spPr>
          <a:xfrm>
            <a:off x="411480" y="2788920"/>
            <a:ext cx="1664208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1E293B"/>
                </a:solidFill>
              </a:rPr>
              <a:t>Age</a:t>
            </a:r>
            <a:endParaRPr lang="en-US" sz="900" dirty="0"/>
          </a:p>
        </p:txBody>
      </p:sp>
      <p:sp>
        <p:nvSpPr>
          <p:cNvPr id="37" name="Shape 35"/>
          <p:cNvSpPr/>
          <p:nvPr/>
        </p:nvSpPr>
        <p:spPr>
          <a:xfrm>
            <a:off x="2194560" y="2788920"/>
            <a:ext cx="1664208" cy="347472"/>
          </a:xfrm>
          <a:prstGeom prst="rect">
            <a:avLst/>
          </a:prstGeom>
          <a:solidFill>
            <a:srgbClr val="F0F4F8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38" name="Text 36"/>
          <p:cNvSpPr/>
          <p:nvPr/>
        </p:nvSpPr>
        <p:spPr>
          <a:xfrm>
            <a:off x="2194560" y="2788920"/>
            <a:ext cx="1664208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1E293B"/>
                </a:solidFill>
              </a:rPr>
              <a:t>MonthlyIncome</a:t>
            </a:r>
            <a:endParaRPr lang="en-US" sz="900" dirty="0"/>
          </a:p>
        </p:txBody>
      </p:sp>
      <p:sp>
        <p:nvSpPr>
          <p:cNvPr id="39" name="Shape 37"/>
          <p:cNvSpPr/>
          <p:nvPr/>
        </p:nvSpPr>
        <p:spPr>
          <a:xfrm>
            <a:off x="3977640" y="2788920"/>
            <a:ext cx="1664208" cy="347472"/>
          </a:xfrm>
          <a:prstGeom prst="rect">
            <a:avLst/>
          </a:prstGeom>
          <a:solidFill>
            <a:srgbClr val="F0F4F8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40" name="Text 38"/>
          <p:cNvSpPr/>
          <p:nvPr/>
        </p:nvSpPr>
        <p:spPr>
          <a:xfrm>
            <a:off x="3977640" y="2788920"/>
            <a:ext cx="1664208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1E293B"/>
                </a:solidFill>
              </a:rPr>
              <a:t>Attrition</a:t>
            </a:r>
            <a:endParaRPr lang="en-US" sz="900" dirty="0"/>
          </a:p>
        </p:txBody>
      </p:sp>
      <p:sp>
        <p:nvSpPr>
          <p:cNvPr id="41" name="Shape 39"/>
          <p:cNvSpPr/>
          <p:nvPr/>
        </p:nvSpPr>
        <p:spPr>
          <a:xfrm>
            <a:off x="411480" y="3246120"/>
            <a:ext cx="1664208" cy="347472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42" name="Text 40"/>
          <p:cNvSpPr/>
          <p:nvPr/>
        </p:nvSpPr>
        <p:spPr>
          <a:xfrm>
            <a:off x="411480" y="3246120"/>
            <a:ext cx="1664208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1E293B"/>
                </a:solidFill>
              </a:rPr>
              <a:t>Department</a:t>
            </a:r>
            <a:endParaRPr lang="en-US" sz="900" dirty="0"/>
          </a:p>
        </p:txBody>
      </p:sp>
      <p:sp>
        <p:nvSpPr>
          <p:cNvPr id="43" name="Shape 41"/>
          <p:cNvSpPr/>
          <p:nvPr/>
        </p:nvSpPr>
        <p:spPr>
          <a:xfrm>
            <a:off x="2194560" y="3246120"/>
            <a:ext cx="1664208" cy="347472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44" name="Text 42"/>
          <p:cNvSpPr/>
          <p:nvPr/>
        </p:nvSpPr>
        <p:spPr>
          <a:xfrm>
            <a:off x="2194560" y="3246120"/>
            <a:ext cx="1664208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1E293B"/>
                </a:solidFill>
              </a:rPr>
              <a:t>JobRole</a:t>
            </a:r>
            <a:endParaRPr lang="en-US" sz="900" dirty="0"/>
          </a:p>
        </p:txBody>
      </p:sp>
      <p:sp>
        <p:nvSpPr>
          <p:cNvPr id="45" name="Shape 43"/>
          <p:cNvSpPr/>
          <p:nvPr/>
        </p:nvSpPr>
        <p:spPr>
          <a:xfrm>
            <a:off x="3977640" y="3246120"/>
            <a:ext cx="1664208" cy="347472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46" name="Text 44"/>
          <p:cNvSpPr/>
          <p:nvPr/>
        </p:nvSpPr>
        <p:spPr>
          <a:xfrm>
            <a:off x="3977640" y="3246120"/>
            <a:ext cx="1664208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1E293B"/>
                </a:solidFill>
              </a:rPr>
              <a:t>OverTime</a:t>
            </a:r>
            <a:endParaRPr lang="en-US" sz="900" dirty="0"/>
          </a:p>
        </p:txBody>
      </p:sp>
      <p:sp>
        <p:nvSpPr>
          <p:cNvPr id="47" name="Shape 45"/>
          <p:cNvSpPr/>
          <p:nvPr/>
        </p:nvSpPr>
        <p:spPr>
          <a:xfrm>
            <a:off x="411480" y="3703320"/>
            <a:ext cx="1664208" cy="347472"/>
          </a:xfrm>
          <a:prstGeom prst="rect">
            <a:avLst/>
          </a:prstGeom>
          <a:solidFill>
            <a:srgbClr val="F0F4F8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48" name="Text 46"/>
          <p:cNvSpPr/>
          <p:nvPr/>
        </p:nvSpPr>
        <p:spPr>
          <a:xfrm>
            <a:off x="411480" y="3703320"/>
            <a:ext cx="1664208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1E293B"/>
                </a:solidFill>
              </a:rPr>
              <a:t>JobSatisfaction</a:t>
            </a:r>
            <a:endParaRPr lang="en-US" sz="900" dirty="0"/>
          </a:p>
        </p:txBody>
      </p:sp>
      <p:sp>
        <p:nvSpPr>
          <p:cNvPr id="49" name="Shape 47"/>
          <p:cNvSpPr/>
          <p:nvPr/>
        </p:nvSpPr>
        <p:spPr>
          <a:xfrm>
            <a:off x="2194560" y="3703320"/>
            <a:ext cx="1664208" cy="347472"/>
          </a:xfrm>
          <a:prstGeom prst="rect">
            <a:avLst/>
          </a:prstGeom>
          <a:solidFill>
            <a:srgbClr val="F0F4F8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50" name="Text 48"/>
          <p:cNvSpPr/>
          <p:nvPr/>
        </p:nvSpPr>
        <p:spPr>
          <a:xfrm>
            <a:off x="2194560" y="3703320"/>
            <a:ext cx="1664208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1E293B"/>
                </a:solidFill>
              </a:rPr>
              <a:t>YearsAtCompany</a:t>
            </a:r>
            <a:endParaRPr lang="en-US" sz="900" dirty="0"/>
          </a:p>
        </p:txBody>
      </p:sp>
      <p:sp>
        <p:nvSpPr>
          <p:cNvPr id="51" name="Shape 49"/>
          <p:cNvSpPr/>
          <p:nvPr/>
        </p:nvSpPr>
        <p:spPr>
          <a:xfrm>
            <a:off x="3977640" y="3703320"/>
            <a:ext cx="1664208" cy="347472"/>
          </a:xfrm>
          <a:prstGeom prst="rect">
            <a:avLst/>
          </a:prstGeom>
          <a:solidFill>
            <a:srgbClr val="F0F4F8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52" name="Text 50"/>
          <p:cNvSpPr/>
          <p:nvPr/>
        </p:nvSpPr>
        <p:spPr>
          <a:xfrm>
            <a:off x="3977640" y="3703320"/>
            <a:ext cx="1664208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1E293B"/>
                </a:solidFill>
              </a:rPr>
              <a:t>Gender</a:t>
            </a:r>
            <a:endParaRPr lang="en-US" sz="900" dirty="0"/>
          </a:p>
        </p:txBody>
      </p:sp>
      <p:sp>
        <p:nvSpPr>
          <p:cNvPr id="53" name="Shape 51"/>
          <p:cNvSpPr/>
          <p:nvPr/>
        </p:nvSpPr>
        <p:spPr>
          <a:xfrm>
            <a:off x="411480" y="4160520"/>
            <a:ext cx="1664208" cy="347472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54" name="Text 52"/>
          <p:cNvSpPr/>
          <p:nvPr/>
        </p:nvSpPr>
        <p:spPr>
          <a:xfrm>
            <a:off x="411480" y="4160520"/>
            <a:ext cx="1664208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1E293B"/>
                </a:solidFill>
              </a:rPr>
              <a:t>Education</a:t>
            </a:r>
            <a:endParaRPr lang="en-US" sz="900" dirty="0"/>
          </a:p>
        </p:txBody>
      </p:sp>
      <p:sp>
        <p:nvSpPr>
          <p:cNvPr id="55" name="Shape 53"/>
          <p:cNvSpPr/>
          <p:nvPr/>
        </p:nvSpPr>
        <p:spPr>
          <a:xfrm>
            <a:off x="2194560" y="4160520"/>
            <a:ext cx="1664208" cy="347472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56" name="Text 54"/>
          <p:cNvSpPr/>
          <p:nvPr/>
        </p:nvSpPr>
        <p:spPr>
          <a:xfrm>
            <a:off x="2194560" y="4160520"/>
            <a:ext cx="1664208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1E293B"/>
                </a:solidFill>
              </a:rPr>
              <a:t>MaritalStatus</a:t>
            </a:r>
            <a:endParaRPr lang="en-US" sz="900" dirty="0"/>
          </a:p>
        </p:txBody>
      </p:sp>
      <p:sp>
        <p:nvSpPr>
          <p:cNvPr id="57" name="Shape 55"/>
          <p:cNvSpPr/>
          <p:nvPr/>
        </p:nvSpPr>
        <p:spPr>
          <a:xfrm>
            <a:off x="3977640" y="4160520"/>
            <a:ext cx="1664208" cy="347472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58" name="Text 56"/>
          <p:cNvSpPr/>
          <p:nvPr/>
        </p:nvSpPr>
        <p:spPr>
          <a:xfrm>
            <a:off x="3977640" y="4160520"/>
            <a:ext cx="1664208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1E293B"/>
                </a:solidFill>
              </a:rPr>
              <a:t>PerformanceRating</a:t>
            </a:r>
            <a:endParaRPr lang="en-US" sz="900" dirty="0"/>
          </a:p>
        </p:txBody>
      </p:sp>
      <p:sp>
        <p:nvSpPr>
          <p:cNvPr id="59" name="Shape 57"/>
          <p:cNvSpPr/>
          <p:nvPr/>
        </p:nvSpPr>
        <p:spPr>
          <a:xfrm>
            <a:off x="411480" y="4617720"/>
            <a:ext cx="1664208" cy="347472"/>
          </a:xfrm>
          <a:prstGeom prst="rect">
            <a:avLst/>
          </a:prstGeom>
          <a:solidFill>
            <a:srgbClr val="F0F4F8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60" name="Text 58"/>
          <p:cNvSpPr/>
          <p:nvPr/>
        </p:nvSpPr>
        <p:spPr>
          <a:xfrm>
            <a:off x="411480" y="4617720"/>
            <a:ext cx="1664208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1E293B"/>
                </a:solidFill>
              </a:rPr>
              <a:t>DistanceFromHome</a:t>
            </a:r>
            <a:endParaRPr lang="en-US" sz="900" dirty="0"/>
          </a:p>
        </p:txBody>
      </p:sp>
      <p:sp>
        <p:nvSpPr>
          <p:cNvPr id="61" name="Shape 59"/>
          <p:cNvSpPr/>
          <p:nvPr/>
        </p:nvSpPr>
        <p:spPr>
          <a:xfrm>
            <a:off x="2194560" y="4617720"/>
            <a:ext cx="1664208" cy="347472"/>
          </a:xfrm>
          <a:prstGeom prst="rect">
            <a:avLst/>
          </a:prstGeom>
          <a:solidFill>
            <a:srgbClr val="F0F4F8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62" name="Text 60"/>
          <p:cNvSpPr/>
          <p:nvPr/>
        </p:nvSpPr>
        <p:spPr>
          <a:xfrm>
            <a:off x="2194560" y="4617720"/>
            <a:ext cx="1664208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1E293B"/>
                </a:solidFill>
              </a:rPr>
              <a:t>WorkLifeBalance</a:t>
            </a:r>
            <a:endParaRPr lang="en-US" sz="900" dirty="0"/>
          </a:p>
        </p:txBody>
      </p:sp>
      <p:sp>
        <p:nvSpPr>
          <p:cNvPr id="63" name="Shape 61"/>
          <p:cNvSpPr/>
          <p:nvPr/>
        </p:nvSpPr>
        <p:spPr>
          <a:xfrm>
            <a:off x="3977640" y="4617720"/>
            <a:ext cx="1664208" cy="347472"/>
          </a:xfrm>
          <a:prstGeom prst="rect">
            <a:avLst/>
          </a:prstGeom>
          <a:solidFill>
            <a:srgbClr val="F0F4F8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64" name="Text 62"/>
          <p:cNvSpPr/>
          <p:nvPr/>
        </p:nvSpPr>
        <p:spPr>
          <a:xfrm>
            <a:off x="3977640" y="4617720"/>
            <a:ext cx="1664208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1E293B"/>
                </a:solidFill>
              </a:rPr>
              <a:t>TrainingTimesLastYear</a:t>
            </a:r>
            <a:endParaRPr lang="en-US" sz="900" dirty="0"/>
          </a:p>
        </p:txBody>
      </p:sp>
      <p:sp>
        <p:nvSpPr>
          <p:cNvPr id="65" name="Shape 63"/>
          <p:cNvSpPr/>
          <p:nvPr/>
        </p:nvSpPr>
        <p:spPr>
          <a:xfrm>
            <a:off x="411480" y="5074920"/>
            <a:ext cx="1664208" cy="347472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66" name="Text 64"/>
          <p:cNvSpPr/>
          <p:nvPr/>
        </p:nvSpPr>
        <p:spPr>
          <a:xfrm>
            <a:off x="411480" y="5074920"/>
            <a:ext cx="1664208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1E293B"/>
                </a:solidFill>
              </a:rPr>
              <a:t>NumCompaniesWorked</a:t>
            </a:r>
            <a:endParaRPr lang="en-US" sz="900" dirty="0"/>
          </a:p>
        </p:txBody>
      </p:sp>
      <p:sp>
        <p:nvSpPr>
          <p:cNvPr id="67" name="Shape 65"/>
          <p:cNvSpPr/>
          <p:nvPr/>
        </p:nvSpPr>
        <p:spPr>
          <a:xfrm>
            <a:off x="2194560" y="5074920"/>
            <a:ext cx="1664208" cy="347472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68" name="Text 66"/>
          <p:cNvSpPr/>
          <p:nvPr/>
        </p:nvSpPr>
        <p:spPr>
          <a:xfrm>
            <a:off x="2194560" y="5074920"/>
            <a:ext cx="1664208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1E293B"/>
                </a:solidFill>
              </a:rPr>
              <a:t>StockOptionLevel</a:t>
            </a:r>
            <a:endParaRPr lang="en-US" sz="900" dirty="0"/>
          </a:p>
        </p:txBody>
      </p:sp>
      <p:sp>
        <p:nvSpPr>
          <p:cNvPr id="69" name="Shape 67"/>
          <p:cNvSpPr/>
          <p:nvPr/>
        </p:nvSpPr>
        <p:spPr>
          <a:xfrm>
            <a:off x="3977640" y="5074920"/>
            <a:ext cx="1664208" cy="347472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70" name="Text 68"/>
          <p:cNvSpPr/>
          <p:nvPr/>
        </p:nvSpPr>
        <p:spPr>
          <a:xfrm>
            <a:off x="3977640" y="5074920"/>
            <a:ext cx="1664208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1E293B"/>
                </a:solidFill>
              </a:rPr>
              <a:t>EnvironmentSatisfaction</a:t>
            </a:r>
            <a:endParaRPr lang="en-US" sz="900" dirty="0"/>
          </a:p>
        </p:txBody>
      </p:sp>
      <p:sp>
        <p:nvSpPr>
          <p:cNvPr id="71" name="Shape 69"/>
          <p:cNvSpPr/>
          <p:nvPr/>
        </p:nvSpPr>
        <p:spPr>
          <a:xfrm>
            <a:off x="6080760" y="2377440"/>
            <a:ext cx="5760720" cy="3657600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sx="100000" sy="100000" kx="0" ky="0" algn="bl" rotWithShape="0" blurRad="88900" dist="38100" dir="8100000">
              <a:srgbClr val="000000">
                <a:alpha val="18000"/>
              </a:srgbClr>
            </a:outerShdw>
          </a:effectLst>
        </p:spPr>
      </p:sp>
      <p:sp>
        <p:nvSpPr>
          <p:cNvPr id="72" name="Shape 70"/>
          <p:cNvSpPr/>
          <p:nvPr/>
        </p:nvSpPr>
        <p:spPr>
          <a:xfrm>
            <a:off x="6080760" y="2377440"/>
            <a:ext cx="5760720" cy="329184"/>
          </a:xfrm>
          <a:prstGeom prst="rect">
            <a:avLst/>
          </a:prstGeom>
          <a:solidFill>
            <a:srgbClr val="FFD700"/>
          </a:solidFill>
          <a:ln w="12700">
            <a:solidFill>
              <a:srgbClr val="FFD700"/>
            </a:solidFill>
            <a:prstDash val="solid"/>
          </a:ln>
        </p:spPr>
      </p:sp>
      <p:sp>
        <p:nvSpPr>
          <p:cNvPr id="73" name="Text 71"/>
          <p:cNvSpPr/>
          <p:nvPr/>
        </p:nvSpPr>
        <p:spPr>
          <a:xfrm>
            <a:off x="6172200" y="2377440"/>
            <a:ext cx="557784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0A1628"/>
                </a:solidFill>
              </a:rPr>
              <a:t>Business Context</a:t>
            </a:r>
            <a:endParaRPr lang="en-US" sz="1100" dirty="0"/>
          </a:p>
        </p:txBody>
      </p:sp>
      <p:sp>
        <p:nvSpPr>
          <p:cNvPr id="74" name="Shape 72"/>
          <p:cNvSpPr/>
          <p:nvPr/>
        </p:nvSpPr>
        <p:spPr>
          <a:xfrm>
            <a:off x="6172200" y="2788920"/>
            <a:ext cx="5577840" cy="338328"/>
          </a:xfrm>
          <a:prstGeom prst="rect">
            <a:avLst/>
          </a:prstGeom>
          <a:solidFill>
            <a:srgbClr val="F0F4F8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75" name="Text 73"/>
          <p:cNvSpPr/>
          <p:nvPr/>
        </p:nvSpPr>
        <p:spPr>
          <a:xfrm>
            <a:off x="6263640" y="2807208"/>
            <a:ext cx="1828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rgbClr val="0A1628"/>
                </a:solidFill>
              </a:rPr>
              <a:t>Company</a:t>
            </a:r>
            <a:endParaRPr lang="en-US" sz="950" dirty="0"/>
          </a:p>
        </p:txBody>
      </p:sp>
      <p:sp>
        <p:nvSpPr>
          <p:cNvPr id="76" name="Text 74"/>
          <p:cNvSpPr/>
          <p:nvPr/>
        </p:nvSpPr>
        <p:spPr>
          <a:xfrm>
            <a:off x="8092440" y="2807208"/>
            <a:ext cx="35661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475569"/>
                </a:solidFill>
              </a:rPr>
              <a:t>IBM (Fictional Dataset)</a:t>
            </a:r>
            <a:endParaRPr lang="en-US" sz="950" dirty="0"/>
          </a:p>
        </p:txBody>
      </p:sp>
      <p:sp>
        <p:nvSpPr>
          <p:cNvPr id="77" name="Shape 75"/>
          <p:cNvSpPr/>
          <p:nvPr/>
        </p:nvSpPr>
        <p:spPr>
          <a:xfrm>
            <a:off x="6172200" y="3191256"/>
            <a:ext cx="5577840" cy="338328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78" name="Text 76"/>
          <p:cNvSpPr/>
          <p:nvPr/>
        </p:nvSpPr>
        <p:spPr>
          <a:xfrm>
            <a:off x="6263640" y="3209544"/>
            <a:ext cx="1828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rgbClr val="0A1628"/>
                </a:solidFill>
              </a:rPr>
              <a:t>Source</a:t>
            </a:r>
            <a:endParaRPr lang="en-US" sz="950" dirty="0"/>
          </a:p>
        </p:txBody>
      </p:sp>
      <p:sp>
        <p:nvSpPr>
          <p:cNvPr id="79" name="Text 77"/>
          <p:cNvSpPr/>
          <p:nvPr/>
        </p:nvSpPr>
        <p:spPr>
          <a:xfrm>
            <a:off x="8092440" y="3209544"/>
            <a:ext cx="35661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475569"/>
                </a:solidFill>
              </a:rPr>
              <a:t>Kaggle — IBM HR Analytics</a:t>
            </a:r>
            <a:endParaRPr lang="en-US" sz="950" dirty="0"/>
          </a:p>
        </p:txBody>
      </p:sp>
      <p:sp>
        <p:nvSpPr>
          <p:cNvPr id="80" name="Shape 78"/>
          <p:cNvSpPr/>
          <p:nvPr/>
        </p:nvSpPr>
        <p:spPr>
          <a:xfrm>
            <a:off x="6172200" y="3593592"/>
            <a:ext cx="5577840" cy="338328"/>
          </a:xfrm>
          <a:prstGeom prst="rect">
            <a:avLst/>
          </a:prstGeom>
          <a:solidFill>
            <a:srgbClr val="F0F4F8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81" name="Text 79"/>
          <p:cNvSpPr/>
          <p:nvPr/>
        </p:nvSpPr>
        <p:spPr>
          <a:xfrm>
            <a:off x="6263640" y="3611880"/>
            <a:ext cx="1828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rgbClr val="0A1628"/>
                </a:solidFill>
              </a:rPr>
              <a:t>Departments</a:t>
            </a:r>
            <a:endParaRPr lang="en-US" sz="950" dirty="0"/>
          </a:p>
        </p:txBody>
      </p:sp>
      <p:sp>
        <p:nvSpPr>
          <p:cNvPr id="82" name="Text 80"/>
          <p:cNvSpPr/>
          <p:nvPr/>
        </p:nvSpPr>
        <p:spPr>
          <a:xfrm>
            <a:off x="8092440" y="3611880"/>
            <a:ext cx="35661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475569"/>
                </a:solidFill>
              </a:rPr>
              <a:t>Human Resources, R&amp;D, Sales</a:t>
            </a:r>
            <a:endParaRPr lang="en-US" sz="950" dirty="0"/>
          </a:p>
        </p:txBody>
      </p:sp>
      <p:sp>
        <p:nvSpPr>
          <p:cNvPr id="83" name="Shape 81"/>
          <p:cNvSpPr/>
          <p:nvPr/>
        </p:nvSpPr>
        <p:spPr>
          <a:xfrm>
            <a:off x="6172200" y="3995928"/>
            <a:ext cx="5577840" cy="338328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84" name="Text 82"/>
          <p:cNvSpPr/>
          <p:nvPr/>
        </p:nvSpPr>
        <p:spPr>
          <a:xfrm>
            <a:off x="6263640" y="4014216"/>
            <a:ext cx="1828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rgbClr val="0A1628"/>
                </a:solidFill>
              </a:rPr>
              <a:t>Job Roles</a:t>
            </a:r>
            <a:endParaRPr lang="en-US" sz="950" dirty="0"/>
          </a:p>
        </p:txBody>
      </p:sp>
      <p:sp>
        <p:nvSpPr>
          <p:cNvPr id="85" name="Text 83"/>
          <p:cNvSpPr/>
          <p:nvPr/>
        </p:nvSpPr>
        <p:spPr>
          <a:xfrm>
            <a:off x="8092440" y="4014216"/>
            <a:ext cx="35661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475569"/>
                </a:solidFill>
              </a:rPr>
              <a:t>9 different roles</a:t>
            </a:r>
            <a:endParaRPr lang="en-US" sz="950" dirty="0"/>
          </a:p>
        </p:txBody>
      </p:sp>
      <p:sp>
        <p:nvSpPr>
          <p:cNvPr id="86" name="Shape 84"/>
          <p:cNvSpPr/>
          <p:nvPr/>
        </p:nvSpPr>
        <p:spPr>
          <a:xfrm>
            <a:off x="6172200" y="4398264"/>
            <a:ext cx="5577840" cy="338328"/>
          </a:xfrm>
          <a:prstGeom prst="rect">
            <a:avLst/>
          </a:prstGeom>
          <a:solidFill>
            <a:srgbClr val="F0F4F8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87" name="Text 85"/>
          <p:cNvSpPr/>
          <p:nvPr/>
        </p:nvSpPr>
        <p:spPr>
          <a:xfrm>
            <a:off x="6263640" y="4416552"/>
            <a:ext cx="1828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rgbClr val="0A1628"/>
                </a:solidFill>
              </a:rPr>
              <a:t>Age Range</a:t>
            </a:r>
            <a:endParaRPr lang="en-US" sz="950" dirty="0"/>
          </a:p>
        </p:txBody>
      </p:sp>
      <p:sp>
        <p:nvSpPr>
          <p:cNvPr id="88" name="Text 86"/>
          <p:cNvSpPr/>
          <p:nvPr/>
        </p:nvSpPr>
        <p:spPr>
          <a:xfrm>
            <a:off x="8092440" y="4416552"/>
            <a:ext cx="35661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475569"/>
                </a:solidFill>
              </a:rPr>
              <a:t>18 to 60 years</a:t>
            </a:r>
            <a:endParaRPr lang="en-US" sz="950" dirty="0"/>
          </a:p>
        </p:txBody>
      </p:sp>
      <p:sp>
        <p:nvSpPr>
          <p:cNvPr id="89" name="Shape 87"/>
          <p:cNvSpPr/>
          <p:nvPr/>
        </p:nvSpPr>
        <p:spPr>
          <a:xfrm>
            <a:off x="6172200" y="4800600"/>
            <a:ext cx="5577840" cy="338328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90" name="Text 88"/>
          <p:cNvSpPr/>
          <p:nvPr/>
        </p:nvSpPr>
        <p:spPr>
          <a:xfrm>
            <a:off x="6263640" y="4818888"/>
            <a:ext cx="1828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rgbClr val="0A1628"/>
                </a:solidFill>
              </a:rPr>
              <a:t>Salary Range</a:t>
            </a:r>
            <a:endParaRPr lang="en-US" sz="950" dirty="0"/>
          </a:p>
        </p:txBody>
      </p:sp>
      <p:sp>
        <p:nvSpPr>
          <p:cNvPr id="91" name="Text 89"/>
          <p:cNvSpPr/>
          <p:nvPr/>
        </p:nvSpPr>
        <p:spPr>
          <a:xfrm>
            <a:off x="8092440" y="4818888"/>
            <a:ext cx="35661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475569"/>
                </a:solidFill>
              </a:rPr>
              <a:t>$1,009 to $19,999/month</a:t>
            </a:r>
            <a:endParaRPr lang="en-US" sz="950" dirty="0"/>
          </a:p>
        </p:txBody>
      </p:sp>
      <p:sp>
        <p:nvSpPr>
          <p:cNvPr id="92" name="Shape 90"/>
          <p:cNvSpPr/>
          <p:nvPr/>
        </p:nvSpPr>
        <p:spPr>
          <a:xfrm>
            <a:off x="6172200" y="5202936"/>
            <a:ext cx="5577840" cy="338328"/>
          </a:xfrm>
          <a:prstGeom prst="rect">
            <a:avLst/>
          </a:prstGeom>
          <a:solidFill>
            <a:srgbClr val="F0F4F8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93" name="Text 91"/>
          <p:cNvSpPr/>
          <p:nvPr/>
        </p:nvSpPr>
        <p:spPr>
          <a:xfrm>
            <a:off x="6263640" y="5221224"/>
            <a:ext cx="1828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rgbClr val="0A1628"/>
                </a:solidFill>
              </a:rPr>
              <a:t>Avg Salary</a:t>
            </a:r>
            <a:endParaRPr lang="en-US" sz="950" dirty="0"/>
          </a:p>
        </p:txBody>
      </p:sp>
      <p:sp>
        <p:nvSpPr>
          <p:cNvPr id="94" name="Text 92"/>
          <p:cNvSpPr/>
          <p:nvPr/>
        </p:nvSpPr>
        <p:spPr>
          <a:xfrm>
            <a:off x="8092440" y="5221224"/>
            <a:ext cx="35661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475569"/>
                </a:solidFill>
              </a:rPr>
              <a:t>$6,503 per month</a:t>
            </a:r>
            <a:endParaRPr lang="en-US" sz="950" dirty="0"/>
          </a:p>
        </p:txBody>
      </p:sp>
      <p:sp>
        <p:nvSpPr>
          <p:cNvPr id="95" name="Shape 93"/>
          <p:cNvSpPr/>
          <p:nvPr/>
        </p:nvSpPr>
        <p:spPr>
          <a:xfrm>
            <a:off x="6172200" y="5605272"/>
            <a:ext cx="5577840" cy="338328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96" name="Text 94"/>
          <p:cNvSpPr/>
          <p:nvPr/>
        </p:nvSpPr>
        <p:spPr>
          <a:xfrm>
            <a:off x="6263640" y="5623560"/>
            <a:ext cx="1828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rgbClr val="0A1628"/>
                </a:solidFill>
              </a:rPr>
              <a:t>Added Columns</a:t>
            </a:r>
            <a:endParaRPr lang="en-US" sz="950" dirty="0"/>
          </a:p>
        </p:txBody>
      </p:sp>
      <p:sp>
        <p:nvSpPr>
          <p:cNvPr id="97" name="Text 95"/>
          <p:cNvSpPr/>
          <p:nvPr/>
        </p:nvSpPr>
        <p:spPr>
          <a:xfrm>
            <a:off x="8092440" y="5623560"/>
            <a:ext cx="35661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475569"/>
                </a:solidFill>
              </a:rPr>
              <a:t>AgeGroup, SalaryBand, AttritionRisk, SalaryStatus</a:t>
            </a:r>
            <a:endParaRPr lang="en-US" sz="95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8FA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61520" cy="987552"/>
          </a:xfrm>
          <a:prstGeom prst="rect">
            <a:avLst/>
          </a:prstGeom>
          <a:solidFill>
            <a:srgbClr val="0A1628"/>
          </a:solidFill>
          <a:ln w="12700">
            <a:solidFill>
              <a:srgbClr val="0A1628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987552"/>
            <a:ext cx="12161520" cy="54864"/>
          </a:xfrm>
          <a:prstGeom prst="rect">
            <a:avLst/>
          </a:prstGeom>
          <a:solidFill>
            <a:srgbClr val="FFD700"/>
          </a:solidFill>
          <a:ln w="12700">
            <a:solidFill>
              <a:srgbClr val="FFD700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365760" y="64008"/>
            <a:ext cx="1143000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Phase 1  —  Excel Analysis</a:t>
            </a:r>
            <a:endParaRPr lang="en-US" sz="2100" dirty="0"/>
          </a:p>
        </p:txBody>
      </p:sp>
      <p:sp>
        <p:nvSpPr>
          <p:cNvPr id="5" name="Text 3"/>
          <p:cNvSpPr/>
          <p:nvPr/>
        </p:nvSpPr>
        <p:spPr>
          <a:xfrm>
            <a:off x="365760" y="566928"/>
            <a:ext cx="11430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94A3B8"/>
                </a:solidFill>
              </a:rPr>
              <a:t>Data cleaning, derived columns, pivot tables and dashboard</a:t>
            </a:r>
            <a:endParaRPr lang="en-US" sz="1050" dirty="0"/>
          </a:p>
        </p:txBody>
      </p:sp>
      <p:sp>
        <p:nvSpPr>
          <p:cNvPr id="6" name="Shape 4"/>
          <p:cNvSpPr/>
          <p:nvPr/>
        </p:nvSpPr>
        <p:spPr>
          <a:xfrm>
            <a:off x="0" y="6601968"/>
            <a:ext cx="12161520" cy="256032"/>
          </a:xfrm>
          <a:prstGeom prst="rect">
            <a:avLst/>
          </a:prstGeom>
          <a:solidFill>
            <a:srgbClr val="0A1628"/>
          </a:solidFill>
          <a:ln w="12700">
            <a:solidFill>
              <a:srgbClr val="0A1628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365760" y="6620256"/>
            <a:ext cx="114300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50" dirty="0">
                <a:solidFill>
                  <a:srgbClr val="94A3B8"/>
                </a:solidFill>
              </a:rPr>
              <a:t>HR Attrition Analysis  •  Rohan Kumar  •  6-Day Project  •  2024</a:t>
            </a:r>
            <a:endParaRPr lang="en-US" sz="750" dirty="0"/>
          </a:p>
        </p:txBody>
      </p:sp>
      <p:sp>
        <p:nvSpPr>
          <p:cNvPr id="8" name="Shape 6"/>
          <p:cNvSpPr/>
          <p:nvPr/>
        </p:nvSpPr>
        <p:spPr>
          <a:xfrm>
            <a:off x="320040" y="1207008"/>
            <a:ext cx="6858000" cy="1024128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sx="100000" sy="100000" kx="0" ky="0" algn="bl" rotWithShape="0" blurRad="88900" dist="38100" dir="8100000">
              <a:srgbClr val="000000">
                <a:alpha val="18000"/>
              </a:srgbClr>
            </a:outerShdw>
          </a:effectLst>
        </p:spPr>
      </p:sp>
      <p:sp>
        <p:nvSpPr>
          <p:cNvPr id="9" name="Shape 7"/>
          <p:cNvSpPr/>
          <p:nvPr/>
        </p:nvSpPr>
        <p:spPr>
          <a:xfrm>
            <a:off x="320040" y="1207008"/>
            <a:ext cx="777240" cy="1024128"/>
          </a:xfrm>
          <a:prstGeom prst="rect">
            <a:avLst/>
          </a:prstGeom>
          <a:solidFill>
            <a:srgbClr val="0A1628"/>
          </a:solidFill>
          <a:ln w="12700">
            <a:solidFill>
              <a:srgbClr val="0A1628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320040" y="1207008"/>
            <a:ext cx="777240" cy="10241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FFD700"/>
                </a:solidFill>
              </a:rPr>
              <a:t>Step 1</a:t>
            </a:r>
            <a:endParaRPr lang="en-US" sz="900" dirty="0"/>
          </a:p>
        </p:txBody>
      </p:sp>
      <p:sp>
        <p:nvSpPr>
          <p:cNvPr id="11" name="Text 9"/>
          <p:cNvSpPr/>
          <p:nvPr/>
        </p:nvSpPr>
        <p:spPr>
          <a:xfrm>
            <a:off x="1188720" y="1298448"/>
            <a:ext cx="585216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0A1628"/>
                </a:solidFill>
              </a:rPr>
              <a:t>Data Cleaning</a:t>
            </a:r>
            <a:endParaRPr lang="en-US" sz="1200" dirty="0"/>
          </a:p>
        </p:txBody>
      </p:sp>
      <p:sp>
        <p:nvSpPr>
          <p:cNvPr id="12" name="Text 10"/>
          <p:cNvSpPr/>
          <p:nvPr/>
        </p:nvSpPr>
        <p:spPr>
          <a:xfrm>
            <a:off x="1188720" y="1600200"/>
            <a:ext cx="585216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475569"/>
                </a:solidFill>
              </a:rPr>
              <a:t>Checked for duplicates and null values — dataset was clean. Fixed data types for all columns. Confirmed 1,470 rows and 35 columns are complete and accurate.</a:t>
            </a:r>
            <a:endParaRPr lang="en-US" sz="950" dirty="0"/>
          </a:p>
        </p:txBody>
      </p:sp>
      <p:sp>
        <p:nvSpPr>
          <p:cNvPr id="13" name="Shape 11"/>
          <p:cNvSpPr/>
          <p:nvPr/>
        </p:nvSpPr>
        <p:spPr>
          <a:xfrm>
            <a:off x="320040" y="2395728"/>
            <a:ext cx="6858000" cy="1024128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sx="100000" sy="100000" kx="0" ky="0" algn="bl" rotWithShape="0" blurRad="88900" dist="38100" dir="8100000">
              <a:srgbClr val="000000">
                <a:alpha val="18000"/>
              </a:srgbClr>
            </a:outerShdw>
          </a:effectLst>
        </p:spPr>
      </p:sp>
      <p:sp>
        <p:nvSpPr>
          <p:cNvPr id="14" name="Shape 12"/>
          <p:cNvSpPr/>
          <p:nvPr/>
        </p:nvSpPr>
        <p:spPr>
          <a:xfrm>
            <a:off x="320040" y="2395728"/>
            <a:ext cx="777240" cy="1024128"/>
          </a:xfrm>
          <a:prstGeom prst="rect">
            <a:avLst/>
          </a:prstGeom>
          <a:solidFill>
            <a:srgbClr val="0A1628"/>
          </a:solidFill>
          <a:ln w="12700">
            <a:solidFill>
              <a:srgbClr val="0A1628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320040" y="2395728"/>
            <a:ext cx="777240" cy="10241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FFD700"/>
                </a:solidFill>
              </a:rPr>
              <a:t>Step 2</a:t>
            </a:r>
            <a:endParaRPr lang="en-US" sz="900" dirty="0"/>
          </a:p>
        </p:txBody>
      </p:sp>
      <p:sp>
        <p:nvSpPr>
          <p:cNvPr id="16" name="Text 14"/>
          <p:cNvSpPr/>
          <p:nvPr/>
        </p:nvSpPr>
        <p:spPr>
          <a:xfrm>
            <a:off x="1188720" y="2487168"/>
            <a:ext cx="585216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0A1628"/>
                </a:solidFill>
              </a:rPr>
              <a:t>Derived Columns</a:t>
            </a:r>
            <a:endParaRPr lang="en-US" sz="1200" dirty="0"/>
          </a:p>
        </p:txBody>
      </p:sp>
      <p:sp>
        <p:nvSpPr>
          <p:cNvPr id="17" name="Text 15"/>
          <p:cNvSpPr/>
          <p:nvPr/>
        </p:nvSpPr>
        <p:spPr>
          <a:xfrm>
            <a:off x="1188720" y="2788920"/>
            <a:ext cx="585216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475569"/>
                </a:solidFill>
              </a:rPr>
              <a:t>Added 4 new columns: AgeGroup (18-25, 26-35, 36-45, 46+), SalaryBand (Low/Mid/High/Very High), AttritionRisk (High/Medium/Low), SalaryStatus (Above/Below Average).</a:t>
            </a:r>
            <a:endParaRPr lang="en-US" sz="950" dirty="0"/>
          </a:p>
        </p:txBody>
      </p:sp>
      <p:sp>
        <p:nvSpPr>
          <p:cNvPr id="18" name="Shape 16"/>
          <p:cNvSpPr/>
          <p:nvPr/>
        </p:nvSpPr>
        <p:spPr>
          <a:xfrm>
            <a:off x="320040" y="3584448"/>
            <a:ext cx="6858000" cy="1024128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sx="100000" sy="100000" kx="0" ky="0" algn="bl" rotWithShape="0" blurRad="88900" dist="38100" dir="8100000">
              <a:srgbClr val="000000">
                <a:alpha val="18000"/>
              </a:srgbClr>
            </a:outerShdw>
          </a:effectLst>
        </p:spPr>
      </p:sp>
      <p:sp>
        <p:nvSpPr>
          <p:cNvPr id="19" name="Shape 17"/>
          <p:cNvSpPr/>
          <p:nvPr/>
        </p:nvSpPr>
        <p:spPr>
          <a:xfrm>
            <a:off x="320040" y="3584448"/>
            <a:ext cx="777240" cy="1024128"/>
          </a:xfrm>
          <a:prstGeom prst="rect">
            <a:avLst/>
          </a:prstGeom>
          <a:solidFill>
            <a:srgbClr val="0A1628"/>
          </a:solidFill>
          <a:ln w="12700">
            <a:solidFill>
              <a:srgbClr val="0A1628"/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320040" y="3584448"/>
            <a:ext cx="777240" cy="10241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FFD700"/>
                </a:solidFill>
              </a:rPr>
              <a:t>Step 3</a:t>
            </a:r>
            <a:endParaRPr lang="en-US" sz="900" dirty="0"/>
          </a:p>
        </p:txBody>
      </p:sp>
      <p:sp>
        <p:nvSpPr>
          <p:cNvPr id="21" name="Text 19"/>
          <p:cNvSpPr/>
          <p:nvPr/>
        </p:nvSpPr>
        <p:spPr>
          <a:xfrm>
            <a:off x="1188720" y="3675888"/>
            <a:ext cx="585216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0A1628"/>
                </a:solidFill>
              </a:rPr>
              <a:t>Pivot Tables (4)</a:t>
            </a:r>
            <a:endParaRPr lang="en-US" sz="1200" dirty="0"/>
          </a:p>
        </p:txBody>
      </p:sp>
      <p:sp>
        <p:nvSpPr>
          <p:cNvPr id="22" name="Text 20"/>
          <p:cNvSpPr/>
          <p:nvPr/>
        </p:nvSpPr>
        <p:spPr>
          <a:xfrm>
            <a:off x="1188720" y="3977640"/>
            <a:ext cx="585216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475569"/>
                </a:solidFill>
              </a:rPr>
              <a:t>Pivot 1: Attrition by Department. Pivot 2: Avg Salary by Job Role. Pivot 3: OverTime vs Attrition. Pivot 4: Job Satisfaction Analysis — all on separate sheets.</a:t>
            </a:r>
            <a:endParaRPr lang="en-US" sz="950" dirty="0"/>
          </a:p>
        </p:txBody>
      </p:sp>
      <p:sp>
        <p:nvSpPr>
          <p:cNvPr id="23" name="Shape 21"/>
          <p:cNvSpPr/>
          <p:nvPr/>
        </p:nvSpPr>
        <p:spPr>
          <a:xfrm>
            <a:off x="320040" y="4773168"/>
            <a:ext cx="6858000" cy="1024128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sx="100000" sy="100000" kx="0" ky="0" algn="bl" rotWithShape="0" blurRad="88900" dist="38100" dir="8100000">
              <a:srgbClr val="000000">
                <a:alpha val="18000"/>
              </a:srgbClr>
            </a:outerShdw>
          </a:effectLst>
        </p:spPr>
      </p:sp>
      <p:sp>
        <p:nvSpPr>
          <p:cNvPr id="24" name="Shape 22"/>
          <p:cNvSpPr/>
          <p:nvPr/>
        </p:nvSpPr>
        <p:spPr>
          <a:xfrm>
            <a:off x="320040" y="4773168"/>
            <a:ext cx="777240" cy="1024128"/>
          </a:xfrm>
          <a:prstGeom prst="rect">
            <a:avLst/>
          </a:prstGeom>
          <a:solidFill>
            <a:srgbClr val="0A1628"/>
          </a:solidFill>
          <a:ln w="12700">
            <a:solidFill>
              <a:srgbClr val="0A1628"/>
            </a:solidFill>
            <a:prstDash val="solid"/>
          </a:ln>
        </p:spPr>
      </p:sp>
      <p:sp>
        <p:nvSpPr>
          <p:cNvPr id="25" name="Text 23"/>
          <p:cNvSpPr/>
          <p:nvPr/>
        </p:nvSpPr>
        <p:spPr>
          <a:xfrm>
            <a:off x="320040" y="4773168"/>
            <a:ext cx="777240" cy="10241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FFD700"/>
                </a:solidFill>
              </a:rPr>
              <a:t>Step 4</a:t>
            </a:r>
            <a:endParaRPr lang="en-US" sz="900" dirty="0"/>
          </a:p>
        </p:txBody>
      </p:sp>
      <p:sp>
        <p:nvSpPr>
          <p:cNvPr id="26" name="Text 24"/>
          <p:cNvSpPr/>
          <p:nvPr/>
        </p:nvSpPr>
        <p:spPr>
          <a:xfrm>
            <a:off x="1188720" y="4864608"/>
            <a:ext cx="585216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0A1628"/>
                </a:solidFill>
              </a:rPr>
              <a:t>Dashboard</a:t>
            </a:r>
            <a:endParaRPr lang="en-US" sz="1200" dirty="0"/>
          </a:p>
        </p:txBody>
      </p:sp>
      <p:sp>
        <p:nvSpPr>
          <p:cNvPr id="27" name="Text 25"/>
          <p:cNvSpPr/>
          <p:nvPr/>
        </p:nvSpPr>
        <p:spPr>
          <a:xfrm>
            <a:off x="1188720" y="5166360"/>
            <a:ext cx="585216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475569"/>
                </a:solidFill>
              </a:rPr>
              <a:t>Charts and KPI summary on Dashboard sheet showing attrition rate 16.12%, department-wise breakdown and key HR metrics.</a:t>
            </a:r>
            <a:endParaRPr lang="en-US" sz="950" dirty="0"/>
          </a:p>
        </p:txBody>
      </p:sp>
      <p:sp>
        <p:nvSpPr>
          <p:cNvPr id="28" name="Shape 26"/>
          <p:cNvSpPr/>
          <p:nvPr/>
        </p:nvSpPr>
        <p:spPr>
          <a:xfrm>
            <a:off x="7406640" y="1207008"/>
            <a:ext cx="4572000" cy="4681728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sx="100000" sy="100000" kx="0" ky="0" algn="bl" rotWithShape="0" blurRad="88900" dist="38100" dir="8100000">
              <a:srgbClr val="000000">
                <a:alpha val="18000"/>
              </a:srgbClr>
            </a:outerShdw>
          </a:effectLst>
        </p:spPr>
      </p:sp>
      <p:sp>
        <p:nvSpPr>
          <p:cNvPr id="29" name="Shape 27"/>
          <p:cNvSpPr/>
          <p:nvPr/>
        </p:nvSpPr>
        <p:spPr>
          <a:xfrm>
            <a:off x="7406640" y="1207008"/>
            <a:ext cx="4572000" cy="347472"/>
          </a:xfrm>
          <a:prstGeom prst="rect">
            <a:avLst/>
          </a:prstGeom>
          <a:solidFill>
            <a:srgbClr val="1A472A"/>
          </a:solidFill>
          <a:ln w="12700">
            <a:solidFill>
              <a:srgbClr val="1A472A"/>
            </a:solidFill>
            <a:prstDash val="solid"/>
          </a:ln>
        </p:spPr>
      </p:sp>
      <p:sp>
        <p:nvSpPr>
          <p:cNvPr id="30" name="Text 28"/>
          <p:cNvSpPr/>
          <p:nvPr/>
        </p:nvSpPr>
        <p:spPr>
          <a:xfrm>
            <a:off x="7498080" y="1207008"/>
            <a:ext cx="438912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FFFFFF"/>
                </a:solidFill>
              </a:rPr>
              <a:t>Excel Deliverables</a:t>
            </a:r>
            <a:endParaRPr lang="en-US" sz="1100" dirty="0"/>
          </a:p>
        </p:txBody>
      </p:sp>
      <p:sp>
        <p:nvSpPr>
          <p:cNvPr id="31" name="Shape 29"/>
          <p:cNvSpPr/>
          <p:nvPr/>
        </p:nvSpPr>
        <p:spPr>
          <a:xfrm>
            <a:off x="7498080" y="1664208"/>
            <a:ext cx="4389120" cy="438912"/>
          </a:xfrm>
          <a:prstGeom prst="rect">
            <a:avLst/>
          </a:prstGeom>
          <a:solidFill>
            <a:srgbClr val="F0F4F8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32" name="Text 30"/>
          <p:cNvSpPr/>
          <p:nvPr/>
        </p:nvSpPr>
        <p:spPr>
          <a:xfrm>
            <a:off x="7589520" y="1691640"/>
            <a:ext cx="1828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rgbClr val="0A1628"/>
                </a:solidFill>
              </a:rPr>
              <a:t>8 Sheets</a:t>
            </a:r>
            <a:endParaRPr lang="en-US" sz="950" dirty="0"/>
          </a:p>
        </p:txBody>
      </p:sp>
      <p:sp>
        <p:nvSpPr>
          <p:cNvPr id="33" name="Text 31"/>
          <p:cNvSpPr/>
          <p:nvPr/>
        </p:nvSpPr>
        <p:spPr>
          <a:xfrm>
            <a:off x="9418320" y="1691640"/>
            <a:ext cx="23774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475569"/>
                </a:solidFill>
              </a:rPr>
              <a:t>Raw Data, Cleaned, Summary, Lookup, 4 Pivots</a:t>
            </a:r>
            <a:endParaRPr lang="en-US" sz="900" dirty="0"/>
          </a:p>
        </p:txBody>
      </p:sp>
      <p:sp>
        <p:nvSpPr>
          <p:cNvPr id="34" name="Shape 32"/>
          <p:cNvSpPr/>
          <p:nvPr/>
        </p:nvSpPr>
        <p:spPr>
          <a:xfrm>
            <a:off x="7498080" y="2194560"/>
            <a:ext cx="4389120" cy="438912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35" name="Text 33"/>
          <p:cNvSpPr/>
          <p:nvPr/>
        </p:nvSpPr>
        <p:spPr>
          <a:xfrm>
            <a:off x="7589520" y="2221992"/>
            <a:ext cx="1828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rgbClr val="0A1628"/>
                </a:solidFill>
              </a:rPr>
              <a:t>1,470 Rows</a:t>
            </a:r>
            <a:endParaRPr lang="en-US" sz="950" dirty="0"/>
          </a:p>
        </p:txBody>
      </p:sp>
      <p:sp>
        <p:nvSpPr>
          <p:cNvPr id="36" name="Text 34"/>
          <p:cNvSpPr/>
          <p:nvPr/>
        </p:nvSpPr>
        <p:spPr>
          <a:xfrm>
            <a:off x="9418320" y="2221992"/>
            <a:ext cx="23774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475569"/>
                </a:solidFill>
              </a:rPr>
              <a:t>Complete dataset, zero data loss</a:t>
            </a:r>
            <a:endParaRPr lang="en-US" sz="900" dirty="0"/>
          </a:p>
        </p:txBody>
      </p:sp>
      <p:sp>
        <p:nvSpPr>
          <p:cNvPr id="37" name="Shape 35"/>
          <p:cNvSpPr/>
          <p:nvPr/>
        </p:nvSpPr>
        <p:spPr>
          <a:xfrm>
            <a:off x="7498080" y="2724912"/>
            <a:ext cx="4389120" cy="438912"/>
          </a:xfrm>
          <a:prstGeom prst="rect">
            <a:avLst/>
          </a:prstGeom>
          <a:solidFill>
            <a:srgbClr val="F0F4F8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38" name="Text 36"/>
          <p:cNvSpPr/>
          <p:nvPr/>
        </p:nvSpPr>
        <p:spPr>
          <a:xfrm>
            <a:off x="7589520" y="2752344"/>
            <a:ext cx="1828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rgbClr val="0A1628"/>
                </a:solidFill>
              </a:rPr>
              <a:t>37 Columns</a:t>
            </a:r>
            <a:endParaRPr lang="en-US" sz="950" dirty="0"/>
          </a:p>
        </p:txBody>
      </p:sp>
      <p:sp>
        <p:nvSpPr>
          <p:cNvPr id="39" name="Text 37"/>
          <p:cNvSpPr/>
          <p:nvPr/>
        </p:nvSpPr>
        <p:spPr>
          <a:xfrm>
            <a:off x="9418320" y="2752344"/>
            <a:ext cx="23774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475569"/>
                </a:solidFill>
              </a:rPr>
              <a:t>35 original + 4 derived columns added</a:t>
            </a:r>
            <a:endParaRPr lang="en-US" sz="900" dirty="0"/>
          </a:p>
        </p:txBody>
      </p:sp>
      <p:sp>
        <p:nvSpPr>
          <p:cNvPr id="40" name="Shape 38"/>
          <p:cNvSpPr/>
          <p:nvPr/>
        </p:nvSpPr>
        <p:spPr>
          <a:xfrm>
            <a:off x="7498080" y="3255264"/>
            <a:ext cx="4389120" cy="438912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41" name="Text 39"/>
          <p:cNvSpPr/>
          <p:nvPr/>
        </p:nvSpPr>
        <p:spPr>
          <a:xfrm>
            <a:off x="7589520" y="3282696"/>
            <a:ext cx="1828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rgbClr val="0A1628"/>
                </a:solidFill>
              </a:rPr>
              <a:t>4 Pivot Tables</a:t>
            </a:r>
            <a:endParaRPr lang="en-US" sz="950" dirty="0"/>
          </a:p>
        </p:txBody>
      </p:sp>
      <p:sp>
        <p:nvSpPr>
          <p:cNvPr id="42" name="Text 40"/>
          <p:cNvSpPr/>
          <p:nvPr/>
        </p:nvSpPr>
        <p:spPr>
          <a:xfrm>
            <a:off x="9418320" y="3282696"/>
            <a:ext cx="23774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475569"/>
                </a:solidFill>
              </a:rPr>
              <a:t>Attrition, Salary, OverTime, Satisfaction</a:t>
            </a:r>
            <a:endParaRPr lang="en-US" sz="900" dirty="0"/>
          </a:p>
        </p:txBody>
      </p:sp>
      <p:sp>
        <p:nvSpPr>
          <p:cNvPr id="43" name="Shape 41"/>
          <p:cNvSpPr/>
          <p:nvPr/>
        </p:nvSpPr>
        <p:spPr>
          <a:xfrm>
            <a:off x="7498080" y="3785616"/>
            <a:ext cx="4389120" cy="438912"/>
          </a:xfrm>
          <a:prstGeom prst="rect">
            <a:avLst/>
          </a:prstGeom>
          <a:solidFill>
            <a:srgbClr val="F0F4F8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44" name="Text 42"/>
          <p:cNvSpPr/>
          <p:nvPr/>
        </p:nvSpPr>
        <p:spPr>
          <a:xfrm>
            <a:off x="7589520" y="3813048"/>
            <a:ext cx="1828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rgbClr val="0A1628"/>
                </a:solidFill>
              </a:rPr>
              <a:t>4 Charts</a:t>
            </a:r>
            <a:endParaRPr lang="en-US" sz="950" dirty="0"/>
          </a:p>
        </p:txBody>
      </p:sp>
      <p:sp>
        <p:nvSpPr>
          <p:cNvPr id="45" name="Text 43"/>
          <p:cNvSpPr/>
          <p:nvPr/>
        </p:nvSpPr>
        <p:spPr>
          <a:xfrm>
            <a:off x="9418320" y="3813048"/>
            <a:ext cx="23774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475569"/>
                </a:solidFill>
              </a:rPr>
              <a:t>One chart per pivot table</a:t>
            </a:r>
            <a:endParaRPr lang="en-US" sz="900" dirty="0"/>
          </a:p>
        </p:txBody>
      </p:sp>
      <p:sp>
        <p:nvSpPr>
          <p:cNvPr id="46" name="Shape 44"/>
          <p:cNvSpPr/>
          <p:nvPr/>
        </p:nvSpPr>
        <p:spPr>
          <a:xfrm>
            <a:off x="7498080" y="4315968"/>
            <a:ext cx="4389120" cy="438912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47" name="Text 45"/>
          <p:cNvSpPr/>
          <p:nvPr/>
        </p:nvSpPr>
        <p:spPr>
          <a:xfrm>
            <a:off x="7589520" y="4343400"/>
            <a:ext cx="1828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rgbClr val="0A1628"/>
                </a:solidFill>
              </a:rPr>
              <a:t>Attrition Rate</a:t>
            </a:r>
            <a:endParaRPr lang="en-US" sz="950" dirty="0"/>
          </a:p>
        </p:txBody>
      </p:sp>
      <p:sp>
        <p:nvSpPr>
          <p:cNvPr id="48" name="Text 46"/>
          <p:cNvSpPr/>
          <p:nvPr/>
        </p:nvSpPr>
        <p:spPr>
          <a:xfrm>
            <a:off x="9418320" y="4343400"/>
            <a:ext cx="23774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475569"/>
                </a:solidFill>
              </a:rPr>
              <a:t>16.12% overall attrition</a:t>
            </a:r>
            <a:endParaRPr lang="en-US" sz="900" dirty="0"/>
          </a:p>
        </p:txBody>
      </p:sp>
      <p:sp>
        <p:nvSpPr>
          <p:cNvPr id="49" name="Shape 47"/>
          <p:cNvSpPr/>
          <p:nvPr/>
        </p:nvSpPr>
        <p:spPr>
          <a:xfrm>
            <a:off x="7498080" y="4846320"/>
            <a:ext cx="4389120" cy="438912"/>
          </a:xfrm>
          <a:prstGeom prst="rect">
            <a:avLst/>
          </a:prstGeom>
          <a:solidFill>
            <a:srgbClr val="F0F4F8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50" name="Text 48"/>
          <p:cNvSpPr/>
          <p:nvPr/>
        </p:nvSpPr>
        <p:spPr>
          <a:xfrm>
            <a:off x="7589520" y="4873752"/>
            <a:ext cx="1828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rgbClr val="0A1628"/>
                </a:solidFill>
              </a:rPr>
              <a:t>Score: 30/30</a:t>
            </a:r>
            <a:endParaRPr lang="en-US" sz="950" dirty="0"/>
          </a:p>
        </p:txBody>
      </p:sp>
      <p:sp>
        <p:nvSpPr>
          <p:cNvPr id="51" name="Text 49"/>
          <p:cNvSpPr/>
          <p:nvPr/>
        </p:nvSpPr>
        <p:spPr>
          <a:xfrm>
            <a:off x="9418320" y="4873752"/>
            <a:ext cx="23774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475569"/>
                </a:solidFill>
              </a:rPr>
              <a:t>All deliverables complete ✅</a:t>
            </a:r>
            <a:endParaRPr lang="en-US" sz="9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8FA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61520" cy="987552"/>
          </a:xfrm>
          <a:prstGeom prst="rect">
            <a:avLst/>
          </a:prstGeom>
          <a:solidFill>
            <a:srgbClr val="0A1628"/>
          </a:solidFill>
          <a:ln w="12700">
            <a:solidFill>
              <a:srgbClr val="0A1628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987552"/>
            <a:ext cx="12161520" cy="54864"/>
          </a:xfrm>
          <a:prstGeom prst="rect">
            <a:avLst/>
          </a:prstGeom>
          <a:solidFill>
            <a:srgbClr val="FFD700"/>
          </a:solidFill>
          <a:ln w="12700">
            <a:solidFill>
              <a:srgbClr val="FFD700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365760" y="64008"/>
            <a:ext cx="1143000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Phase 2  —  SQL Analysis</a:t>
            </a:r>
            <a:endParaRPr lang="en-US" sz="2100" dirty="0"/>
          </a:p>
        </p:txBody>
      </p:sp>
      <p:sp>
        <p:nvSpPr>
          <p:cNvPr id="5" name="Text 3"/>
          <p:cNvSpPr/>
          <p:nvPr/>
        </p:nvSpPr>
        <p:spPr>
          <a:xfrm>
            <a:off x="365760" y="566928"/>
            <a:ext cx="11430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94A3B8"/>
                </a:solidFill>
              </a:rPr>
              <a:t>MySQL Workbench  •  18 queries  •  Basic to Advanced level</a:t>
            </a:r>
            <a:endParaRPr lang="en-US" sz="1050" dirty="0"/>
          </a:p>
        </p:txBody>
      </p:sp>
      <p:sp>
        <p:nvSpPr>
          <p:cNvPr id="6" name="Shape 4"/>
          <p:cNvSpPr/>
          <p:nvPr/>
        </p:nvSpPr>
        <p:spPr>
          <a:xfrm>
            <a:off x="0" y="6601968"/>
            <a:ext cx="12161520" cy="256032"/>
          </a:xfrm>
          <a:prstGeom prst="rect">
            <a:avLst/>
          </a:prstGeom>
          <a:solidFill>
            <a:srgbClr val="0A1628"/>
          </a:solidFill>
          <a:ln w="12700">
            <a:solidFill>
              <a:srgbClr val="0A1628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365760" y="6620256"/>
            <a:ext cx="114300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50" dirty="0">
                <a:solidFill>
                  <a:srgbClr val="94A3B8"/>
                </a:solidFill>
              </a:rPr>
              <a:t>HR Attrition Analysis  •  Rohan Kumar  •  6-Day Project  •  2024</a:t>
            </a:r>
            <a:endParaRPr lang="en-US" sz="750" dirty="0"/>
          </a:p>
        </p:txBody>
      </p:sp>
      <p:sp>
        <p:nvSpPr>
          <p:cNvPr id="8" name="Shape 6"/>
          <p:cNvSpPr/>
          <p:nvPr/>
        </p:nvSpPr>
        <p:spPr>
          <a:xfrm>
            <a:off x="320040" y="1170432"/>
            <a:ext cx="3703320" cy="5074920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sx="100000" sy="100000" kx="0" ky="0" algn="bl" rotWithShape="0" blurRad="88900" dist="38100" dir="8100000">
              <a:srgbClr val="000000">
                <a:alpha val="18000"/>
              </a:srgbClr>
            </a:outerShdw>
          </a:effectLst>
        </p:spPr>
      </p:sp>
      <p:sp>
        <p:nvSpPr>
          <p:cNvPr id="9" name="Shape 7"/>
          <p:cNvSpPr/>
          <p:nvPr/>
        </p:nvSpPr>
        <p:spPr>
          <a:xfrm>
            <a:off x="320040" y="1170432"/>
            <a:ext cx="3703320" cy="365760"/>
          </a:xfrm>
          <a:prstGeom prst="rect">
            <a:avLst/>
          </a:prstGeom>
          <a:solidFill>
            <a:srgbClr val="E67E22"/>
          </a:solidFill>
          <a:ln w="12700">
            <a:solidFill>
              <a:srgbClr val="E67E22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411480" y="1170432"/>
            <a:ext cx="35204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spc="150" kern="0" dirty="0">
                <a:solidFill>
                  <a:srgbClr val="0A1628"/>
                </a:solidFill>
              </a:rPr>
              <a:t>BASIC QUERIES</a:t>
            </a:r>
            <a:endParaRPr lang="en-US" sz="1000" dirty="0"/>
          </a:p>
        </p:txBody>
      </p:sp>
      <p:sp>
        <p:nvSpPr>
          <p:cNvPr id="11" name="Shape 9"/>
          <p:cNvSpPr/>
          <p:nvPr/>
        </p:nvSpPr>
        <p:spPr>
          <a:xfrm>
            <a:off x="411480" y="1627632"/>
            <a:ext cx="3520440" cy="402336"/>
          </a:xfrm>
          <a:prstGeom prst="rect">
            <a:avLst/>
          </a:prstGeom>
          <a:solidFill>
            <a:srgbClr val="F0F4F8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12" name="Shape 10"/>
          <p:cNvSpPr/>
          <p:nvPr/>
        </p:nvSpPr>
        <p:spPr>
          <a:xfrm>
            <a:off x="502920" y="1719072"/>
            <a:ext cx="164592" cy="164592"/>
          </a:xfrm>
          <a:prstGeom prst="ellipse">
            <a:avLst/>
          </a:prstGeom>
          <a:solidFill>
            <a:srgbClr val="E67E22"/>
          </a:solidFill>
          <a:ln w="12700">
            <a:solidFill>
              <a:srgbClr val="E67E22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749808" y="1636776"/>
            <a:ext cx="306324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1E293B"/>
                </a:solidFill>
              </a:rPr>
              <a:t>All Attrition Employees</a:t>
            </a:r>
            <a:endParaRPr lang="en-US" sz="950" dirty="0"/>
          </a:p>
        </p:txBody>
      </p:sp>
      <p:sp>
        <p:nvSpPr>
          <p:cNvPr id="14" name="Shape 12"/>
          <p:cNvSpPr/>
          <p:nvPr/>
        </p:nvSpPr>
        <p:spPr>
          <a:xfrm>
            <a:off x="411480" y="2121408"/>
            <a:ext cx="3520440" cy="402336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15" name="Shape 13"/>
          <p:cNvSpPr/>
          <p:nvPr/>
        </p:nvSpPr>
        <p:spPr>
          <a:xfrm>
            <a:off x="502920" y="2212848"/>
            <a:ext cx="164592" cy="164592"/>
          </a:xfrm>
          <a:prstGeom prst="ellipse">
            <a:avLst/>
          </a:prstGeom>
          <a:solidFill>
            <a:srgbClr val="E67E22"/>
          </a:solidFill>
          <a:ln w="12700">
            <a:solidFill>
              <a:srgbClr val="E67E22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749808" y="2130552"/>
            <a:ext cx="306324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1E293B"/>
                </a:solidFill>
              </a:rPr>
              <a:t>Sales Dept Attrition</a:t>
            </a:r>
            <a:endParaRPr lang="en-US" sz="950" dirty="0"/>
          </a:p>
        </p:txBody>
      </p:sp>
      <p:sp>
        <p:nvSpPr>
          <p:cNvPr id="17" name="Shape 15"/>
          <p:cNvSpPr/>
          <p:nvPr/>
        </p:nvSpPr>
        <p:spPr>
          <a:xfrm>
            <a:off x="411480" y="2615184"/>
            <a:ext cx="3520440" cy="402336"/>
          </a:xfrm>
          <a:prstGeom prst="rect">
            <a:avLst/>
          </a:prstGeom>
          <a:solidFill>
            <a:srgbClr val="F0F4F8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18" name="Shape 16"/>
          <p:cNvSpPr/>
          <p:nvPr/>
        </p:nvSpPr>
        <p:spPr>
          <a:xfrm>
            <a:off x="502920" y="2706624"/>
            <a:ext cx="164592" cy="164592"/>
          </a:xfrm>
          <a:prstGeom prst="ellipse">
            <a:avLst/>
          </a:prstGeom>
          <a:solidFill>
            <a:srgbClr val="E67E22"/>
          </a:solidFill>
          <a:ln w="12700">
            <a:solidFill>
              <a:srgbClr val="E67E22"/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749808" y="2624328"/>
            <a:ext cx="306324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1E293B"/>
                </a:solidFill>
              </a:rPr>
              <a:t>Young + Overtime Filter</a:t>
            </a:r>
            <a:endParaRPr lang="en-US" sz="950" dirty="0"/>
          </a:p>
        </p:txBody>
      </p:sp>
      <p:sp>
        <p:nvSpPr>
          <p:cNvPr id="20" name="Shape 18"/>
          <p:cNvSpPr/>
          <p:nvPr/>
        </p:nvSpPr>
        <p:spPr>
          <a:xfrm>
            <a:off x="411480" y="3108960"/>
            <a:ext cx="3520440" cy="402336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21" name="Shape 19"/>
          <p:cNvSpPr/>
          <p:nvPr/>
        </p:nvSpPr>
        <p:spPr>
          <a:xfrm>
            <a:off x="502920" y="3200400"/>
            <a:ext cx="164592" cy="164592"/>
          </a:xfrm>
          <a:prstGeom prst="ellipse">
            <a:avLst/>
          </a:prstGeom>
          <a:solidFill>
            <a:srgbClr val="E67E22"/>
          </a:solidFill>
          <a:ln w="12700">
            <a:solidFill>
              <a:srgbClr val="E67E22"/>
            </a:solidFill>
            <a:prstDash val="solid"/>
          </a:ln>
        </p:spPr>
      </p:sp>
      <p:sp>
        <p:nvSpPr>
          <p:cNvPr id="22" name="Text 20"/>
          <p:cNvSpPr/>
          <p:nvPr/>
        </p:nvSpPr>
        <p:spPr>
          <a:xfrm>
            <a:off x="749808" y="3118104"/>
            <a:ext cx="306324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1E293B"/>
                </a:solidFill>
              </a:rPr>
              <a:t>Attrition Count per Dept</a:t>
            </a:r>
            <a:endParaRPr lang="en-US" sz="950" dirty="0"/>
          </a:p>
        </p:txBody>
      </p:sp>
      <p:sp>
        <p:nvSpPr>
          <p:cNvPr id="23" name="Shape 21"/>
          <p:cNvSpPr/>
          <p:nvPr/>
        </p:nvSpPr>
        <p:spPr>
          <a:xfrm>
            <a:off x="411480" y="3602736"/>
            <a:ext cx="3520440" cy="402336"/>
          </a:xfrm>
          <a:prstGeom prst="rect">
            <a:avLst/>
          </a:prstGeom>
          <a:solidFill>
            <a:srgbClr val="F0F4F8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24" name="Shape 22"/>
          <p:cNvSpPr/>
          <p:nvPr/>
        </p:nvSpPr>
        <p:spPr>
          <a:xfrm>
            <a:off x="502920" y="3694176"/>
            <a:ext cx="164592" cy="164592"/>
          </a:xfrm>
          <a:prstGeom prst="ellipse">
            <a:avLst/>
          </a:prstGeom>
          <a:solidFill>
            <a:srgbClr val="E67E22"/>
          </a:solidFill>
          <a:ln w="12700">
            <a:solidFill>
              <a:srgbClr val="E67E22"/>
            </a:solidFill>
            <a:prstDash val="solid"/>
          </a:ln>
        </p:spPr>
      </p:sp>
      <p:sp>
        <p:nvSpPr>
          <p:cNvPr id="25" name="Text 23"/>
          <p:cNvSpPr/>
          <p:nvPr/>
        </p:nvSpPr>
        <p:spPr>
          <a:xfrm>
            <a:off x="749808" y="3611880"/>
            <a:ext cx="306324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1E293B"/>
                </a:solidFill>
              </a:rPr>
              <a:t>Avg Salary per Job Role</a:t>
            </a:r>
            <a:endParaRPr lang="en-US" sz="950" dirty="0"/>
          </a:p>
        </p:txBody>
      </p:sp>
      <p:sp>
        <p:nvSpPr>
          <p:cNvPr id="26" name="Shape 24"/>
          <p:cNvSpPr/>
          <p:nvPr/>
        </p:nvSpPr>
        <p:spPr>
          <a:xfrm>
            <a:off x="411480" y="4096512"/>
            <a:ext cx="3520440" cy="402336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27" name="Shape 25"/>
          <p:cNvSpPr/>
          <p:nvPr/>
        </p:nvSpPr>
        <p:spPr>
          <a:xfrm>
            <a:off x="502920" y="4187952"/>
            <a:ext cx="164592" cy="164592"/>
          </a:xfrm>
          <a:prstGeom prst="ellipse">
            <a:avLst/>
          </a:prstGeom>
          <a:solidFill>
            <a:srgbClr val="E67E22"/>
          </a:solidFill>
          <a:ln w="12700">
            <a:solidFill>
              <a:srgbClr val="E67E22"/>
            </a:solidFill>
            <a:prstDash val="solid"/>
          </a:ln>
        </p:spPr>
      </p:sp>
      <p:sp>
        <p:nvSpPr>
          <p:cNvPr id="28" name="Text 26"/>
          <p:cNvSpPr/>
          <p:nvPr/>
        </p:nvSpPr>
        <p:spPr>
          <a:xfrm>
            <a:off x="749808" y="4105656"/>
            <a:ext cx="306324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1E293B"/>
                </a:solidFill>
              </a:rPr>
              <a:t>Max/Min Years per Education</a:t>
            </a:r>
            <a:endParaRPr lang="en-US" sz="950" dirty="0"/>
          </a:p>
        </p:txBody>
      </p:sp>
      <p:sp>
        <p:nvSpPr>
          <p:cNvPr id="29" name="Shape 27"/>
          <p:cNvSpPr/>
          <p:nvPr/>
        </p:nvSpPr>
        <p:spPr>
          <a:xfrm>
            <a:off x="4251960" y="1170432"/>
            <a:ext cx="3703320" cy="5074920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sx="100000" sy="100000" kx="0" ky="0" algn="bl" rotWithShape="0" blurRad="88900" dist="38100" dir="8100000">
              <a:srgbClr val="000000">
                <a:alpha val="18000"/>
              </a:srgbClr>
            </a:outerShdw>
          </a:effectLst>
        </p:spPr>
      </p:sp>
      <p:sp>
        <p:nvSpPr>
          <p:cNvPr id="30" name="Shape 28"/>
          <p:cNvSpPr/>
          <p:nvPr/>
        </p:nvSpPr>
        <p:spPr>
          <a:xfrm>
            <a:off x="4251960" y="1170432"/>
            <a:ext cx="3703320" cy="365760"/>
          </a:xfrm>
          <a:prstGeom prst="rect">
            <a:avLst/>
          </a:prstGeom>
          <a:solidFill>
            <a:srgbClr val="1A472A"/>
          </a:solidFill>
          <a:ln w="12700">
            <a:solidFill>
              <a:srgbClr val="1A472A"/>
            </a:solidFill>
            <a:prstDash val="solid"/>
          </a:ln>
        </p:spPr>
      </p:sp>
      <p:sp>
        <p:nvSpPr>
          <p:cNvPr id="31" name="Text 29"/>
          <p:cNvSpPr/>
          <p:nvPr/>
        </p:nvSpPr>
        <p:spPr>
          <a:xfrm>
            <a:off x="4343400" y="1170432"/>
            <a:ext cx="35204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spc="150" kern="0" dirty="0">
                <a:solidFill>
                  <a:srgbClr val="FFFFFF"/>
                </a:solidFill>
              </a:rPr>
              <a:t>INTERMEDIATE</a:t>
            </a:r>
            <a:endParaRPr lang="en-US" sz="1000" dirty="0"/>
          </a:p>
        </p:txBody>
      </p:sp>
      <p:sp>
        <p:nvSpPr>
          <p:cNvPr id="32" name="Shape 30"/>
          <p:cNvSpPr/>
          <p:nvPr/>
        </p:nvSpPr>
        <p:spPr>
          <a:xfrm>
            <a:off x="4343400" y="1627632"/>
            <a:ext cx="3520440" cy="402336"/>
          </a:xfrm>
          <a:prstGeom prst="rect">
            <a:avLst/>
          </a:prstGeom>
          <a:solidFill>
            <a:srgbClr val="F0F4F8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33" name="Shape 31"/>
          <p:cNvSpPr/>
          <p:nvPr/>
        </p:nvSpPr>
        <p:spPr>
          <a:xfrm>
            <a:off x="4434840" y="1719072"/>
            <a:ext cx="164592" cy="164592"/>
          </a:xfrm>
          <a:prstGeom prst="ellipse">
            <a:avLst/>
          </a:prstGeom>
          <a:solidFill>
            <a:srgbClr val="1A472A"/>
          </a:solidFill>
          <a:ln w="12700">
            <a:solidFill>
              <a:srgbClr val="1A472A"/>
            </a:solidFill>
            <a:prstDash val="solid"/>
          </a:ln>
        </p:spPr>
      </p:sp>
      <p:sp>
        <p:nvSpPr>
          <p:cNvPr id="34" name="Text 32"/>
          <p:cNvSpPr/>
          <p:nvPr/>
        </p:nvSpPr>
        <p:spPr>
          <a:xfrm>
            <a:off x="4681728" y="1636776"/>
            <a:ext cx="306324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1E293B"/>
                </a:solidFill>
              </a:rPr>
              <a:t>Dept Attrition &gt; 20 (HAVING)</a:t>
            </a:r>
            <a:endParaRPr lang="en-US" sz="950" dirty="0"/>
          </a:p>
        </p:txBody>
      </p:sp>
      <p:sp>
        <p:nvSpPr>
          <p:cNvPr id="35" name="Shape 33"/>
          <p:cNvSpPr/>
          <p:nvPr/>
        </p:nvSpPr>
        <p:spPr>
          <a:xfrm>
            <a:off x="4343400" y="2121408"/>
            <a:ext cx="3520440" cy="402336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36" name="Shape 34"/>
          <p:cNvSpPr/>
          <p:nvPr/>
        </p:nvSpPr>
        <p:spPr>
          <a:xfrm>
            <a:off x="4434840" y="2212848"/>
            <a:ext cx="164592" cy="164592"/>
          </a:xfrm>
          <a:prstGeom prst="ellipse">
            <a:avLst/>
          </a:prstGeom>
          <a:solidFill>
            <a:srgbClr val="1A472A"/>
          </a:solidFill>
          <a:ln w="12700">
            <a:solidFill>
              <a:srgbClr val="1A472A"/>
            </a:solidFill>
            <a:prstDash val="solid"/>
          </a:ln>
        </p:spPr>
      </p:sp>
      <p:sp>
        <p:nvSpPr>
          <p:cNvPr id="37" name="Text 35"/>
          <p:cNvSpPr/>
          <p:nvPr/>
        </p:nvSpPr>
        <p:spPr>
          <a:xfrm>
            <a:off x="4681728" y="2130552"/>
            <a:ext cx="306324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1E293B"/>
                </a:solidFill>
              </a:rPr>
              <a:t>Job Roles Avg &lt; 5000</a:t>
            </a:r>
            <a:endParaRPr lang="en-US" sz="950" dirty="0"/>
          </a:p>
        </p:txBody>
      </p:sp>
      <p:sp>
        <p:nvSpPr>
          <p:cNvPr id="38" name="Shape 36"/>
          <p:cNvSpPr/>
          <p:nvPr/>
        </p:nvSpPr>
        <p:spPr>
          <a:xfrm>
            <a:off x="4343400" y="2615184"/>
            <a:ext cx="3520440" cy="402336"/>
          </a:xfrm>
          <a:prstGeom prst="rect">
            <a:avLst/>
          </a:prstGeom>
          <a:solidFill>
            <a:srgbClr val="F0F4F8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39" name="Shape 37"/>
          <p:cNvSpPr/>
          <p:nvPr/>
        </p:nvSpPr>
        <p:spPr>
          <a:xfrm>
            <a:off x="4434840" y="2706624"/>
            <a:ext cx="164592" cy="164592"/>
          </a:xfrm>
          <a:prstGeom prst="ellipse">
            <a:avLst/>
          </a:prstGeom>
          <a:solidFill>
            <a:srgbClr val="1A472A"/>
          </a:solidFill>
          <a:ln w="12700">
            <a:solidFill>
              <a:srgbClr val="1A472A"/>
            </a:solidFill>
            <a:prstDash val="solid"/>
          </a:ln>
        </p:spPr>
      </p:sp>
      <p:sp>
        <p:nvSpPr>
          <p:cNvPr id="40" name="Text 38"/>
          <p:cNvSpPr/>
          <p:nvPr/>
        </p:nvSpPr>
        <p:spPr>
          <a:xfrm>
            <a:off x="4681728" y="2624328"/>
            <a:ext cx="306324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1E293B"/>
                </a:solidFill>
              </a:rPr>
              <a:t>WHERE + HAVING Combined</a:t>
            </a:r>
            <a:endParaRPr lang="en-US" sz="950" dirty="0"/>
          </a:p>
        </p:txBody>
      </p:sp>
      <p:sp>
        <p:nvSpPr>
          <p:cNvPr id="41" name="Shape 39"/>
          <p:cNvSpPr/>
          <p:nvPr/>
        </p:nvSpPr>
        <p:spPr>
          <a:xfrm>
            <a:off x="4343400" y="3108960"/>
            <a:ext cx="3520440" cy="402336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42" name="Shape 40"/>
          <p:cNvSpPr/>
          <p:nvPr/>
        </p:nvSpPr>
        <p:spPr>
          <a:xfrm>
            <a:off x="4434840" y="3200400"/>
            <a:ext cx="164592" cy="164592"/>
          </a:xfrm>
          <a:prstGeom prst="ellipse">
            <a:avLst/>
          </a:prstGeom>
          <a:solidFill>
            <a:srgbClr val="1A472A"/>
          </a:solidFill>
          <a:ln w="12700">
            <a:solidFill>
              <a:srgbClr val="1A472A"/>
            </a:solidFill>
            <a:prstDash val="solid"/>
          </a:ln>
        </p:spPr>
      </p:sp>
      <p:sp>
        <p:nvSpPr>
          <p:cNvPr id="43" name="Text 41"/>
          <p:cNvSpPr/>
          <p:nvPr/>
        </p:nvSpPr>
        <p:spPr>
          <a:xfrm>
            <a:off x="4681728" y="3118104"/>
            <a:ext cx="306324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1E293B"/>
                </a:solidFill>
              </a:rPr>
              <a:t>Attrition Risk (CASE)</a:t>
            </a:r>
            <a:endParaRPr lang="en-US" sz="950" dirty="0"/>
          </a:p>
        </p:txBody>
      </p:sp>
      <p:sp>
        <p:nvSpPr>
          <p:cNvPr id="44" name="Shape 42"/>
          <p:cNvSpPr/>
          <p:nvPr/>
        </p:nvSpPr>
        <p:spPr>
          <a:xfrm>
            <a:off x="4343400" y="3602736"/>
            <a:ext cx="3520440" cy="402336"/>
          </a:xfrm>
          <a:prstGeom prst="rect">
            <a:avLst/>
          </a:prstGeom>
          <a:solidFill>
            <a:srgbClr val="F0F4F8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45" name="Shape 43"/>
          <p:cNvSpPr/>
          <p:nvPr/>
        </p:nvSpPr>
        <p:spPr>
          <a:xfrm>
            <a:off x="4434840" y="3694176"/>
            <a:ext cx="164592" cy="164592"/>
          </a:xfrm>
          <a:prstGeom prst="ellipse">
            <a:avLst/>
          </a:prstGeom>
          <a:solidFill>
            <a:srgbClr val="1A472A"/>
          </a:solidFill>
          <a:ln w="12700">
            <a:solidFill>
              <a:srgbClr val="1A472A"/>
            </a:solidFill>
            <a:prstDash val="solid"/>
          </a:ln>
        </p:spPr>
      </p:sp>
      <p:sp>
        <p:nvSpPr>
          <p:cNvPr id="46" name="Text 44"/>
          <p:cNvSpPr/>
          <p:nvPr/>
        </p:nvSpPr>
        <p:spPr>
          <a:xfrm>
            <a:off x="4681728" y="3611880"/>
            <a:ext cx="306324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1E293B"/>
                </a:solidFill>
              </a:rPr>
              <a:t>Risk Count Summary</a:t>
            </a:r>
            <a:endParaRPr lang="en-US" sz="950" dirty="0"/>
          </a:p>
        </p:txBody>
      </p:sp>
      <p:sp>
        <p:nvSpPr>
          <p:cNvPr id="47" name="Shape 45"/>
          <p:cNvSpPr/>
          <p:nvPr/>
        </p:nvSpPr>
        <p:spPr>
          <a:xfrm>
            <a:off x="4343400" y="4096512"/>
            <a:ext cx="3520440" cy="402336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48" name="Shape 46"/>
          <p:cNvSpPr/>
          <p:nvPr/>
        </p:nvSpPr>
        <p:spPr>
          <a:xfrm>
            <a:off x="4434840" y="4187952"/>
            <a:ext cx="164592" cy="164592"/>
          </a:xfrm>
          <a:prstGeom prst="ellipse">
            <a:avLst/>
          </a:prstGeom>
          <a:solidFill>
            <a:srgbClr val="1A472A"/>
          </a:solidFill>
          <a:ln w="12700">
            <a:solidFill>
              <a:srgbClr val="1A472A"/>
            </a:solidFill>
            <a:prstDash val="solid"/>
          </a:ln>
        </p:spPr>
      </p:sp>
      <p:sp>
        <p:nvSpPr>
          <p:cNvPr id="49" name="Text 47"/>
          <p:cNvSpPr/>
          <p:nvPr/>
        </p:nvSpPr>
        <p:spPr>
          <a:xfrm>
            <a:off x="4681728" y="4105656"/>
            <a:ext cx="306324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1E293B"/>
                </a:solidFill>
              </a:rPr>
              <a:t>Salary Band Classification</a:t>
            </a:r>
            <a:endParaRPr lang="en-US" sz="950" dirty="0"/>
          </a:p>
        </p:txBody>
      </p:sp>
      <p:sp>
        <p:nvSpPr>
          <p:cNvPr id="50" name="Shape 48"/>
          <p:cNvSpPr/>
          <p:nvPr/>
        </p:nvSpPr>
        <p:spPr>
          <a:xfrm>
            <a:off x="8183880" y="1170432"/>
            <a:ext cx="3703320" cy="5074920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sx="100000" sy="100000" kx="0" ky="0" algn="bl" rotWithShape="0" blurRad="88900" dist="38100" dir="8100000">
              <a:srgbClr val="000000">
                <a:alpha val="18000"/>
              </a:srgbClr>
            </a:outerShdw>
          </a:effectLst>
        </p:spPr>
      </p:sp>
      <p:sp>
        <p:nvSpPr>
          <p:cNvPr id="51" name="Shape 49"/>
          <p:cNvSpPr/>
          <p:nvPr/>
        </p:nvSpPr>
        <p:spPr>
          <a:xfrm>
            <a:off x="8183880" y="1170432"/>
            <a:ext cx="3703320" cy="365760"/>
          </a:xfrm>
          <a:prstGeom prst="rect">
            <a:avLst/>
          </a:prstGeom>
          <a:solidFill>
            <a:srgbClr val="B7950B"/>
          </a:solidFill>
          <a:ln w="12700">
            <a:solidFill>
              <a:srgbClr val="B7950B"/>
            </a:solidFill>
            <a:prstDash val="solid"/>
          </a:ln>
        </p:spPr>
      </p:sp>
      <p:sp>
        <p:nvSpPr>
          <p:cNvPr id="52" name="Text 50"/>
          <p:cNvSpPr/>
          <p:nvPr/>
        </p:nvSpPr>
        <p:spPr>
          <a:xfrm>
            <a:off x="8275320" y="1170432"/>
            <a:ext cx="35204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spc="150" kern="0" dirty="0">
                <a:solidFill>
                  <a:srgbClr val="0A1628"/>
                </a:solidFill>
              </a:rPr>
              <a:t>ADVANCED</a:t>
            </a:r>
            <a:endParaRPr lang="en-US" sz="1000" dirty="0"/>
          </a:p>
        </p:txBody>
      </p:sp>
      <p:sp>
        <p:nvSpPr>
          <p:cNvPr id="53" name="Shape 51"/>
          <p:cNvSpPr/>
          <p:nvPr/>
        </p:nvSpPr>
        <p:spPr>
          <a:xfrm>
            <a:off x="8275320" y="1627632"/>
            <a:ext cx="3520440" cy="402336"/>
          </a:xfrm>
          <a:prstGeom prst="rect">
            <a:avLst/>
          </a:prstGeom>
          <a:solidFill>
            <a:srgbClr val="F0F4F8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54" name="Shape 52"/>
          <p:cNvSpPr/>
          <p:nvPr/>
        </p:nvSpPr>
        <p:spPr>
          <a:xfrm>
            <a:off x="8366760" y="1719072"/>
            <a:ext cx="164592" cy="164592"/>
          </a:xfrm>
          <a:prstGeom prst="ellipse">
            <a:avLst/>
          </a:prstGeom>
          <a:solidFill>
            <a:srgbClr val="B7950B"/>
          </a:solidFill>
          <a:ln w="12700">
            <a:solidFill>
              <a:srgbClr val="B7950B"/>
            </a:solidFill>
            <a:prstDash val="solid"/>
          </a:ln>
        </p:spPr>
      </p:sp>
      <p:sp>
        <p:nvSpPr>
          <p:cNvPr id="55" name="Text 53"/>
          <p:cNvSpPr/>
          <p:nvPr/>
        </p:nvSpPr>
        <p:spPr>
          <a:xfrm>
            <a:off x="8613648" y="1636776"/>
            <a:ext cx="306324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1E293B"/>
                </a:solidFill>
              </a:rPr>
              <a:t>Above Avg Salary (Subquery)</a:t>
            </a:r>
            <a:endParaRPr lang="en-US" sz="950" dirty="0"/>
          </a:p>
        </p:txBody>
      </p:sp>
      <p:sp>
        <p:nvSpPr>
          <p:cNvPr id="56" name="Shape 54"/>
          <p:cNvSpPr/>
          <p:nvPr/>
        </p:nvSpPr>
        <p:spPr>
          <a:xfrm>
            <a:off x="8275320" y="2121408"/>
            <a:ext cx="3520440" cy="402336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57" name="Shape 55"/>
          <p:cNvSpPr/>
          <p:nvPr/>
        </p:nvSpPr>
        <p:spPr>
          <a:xfrm>
            <a:off x="8366760" y="2212848"/>
            <a:ext cx="164592" cy="164592"/>
          </a:xfrm>
          <a:prstGeom prst="ellipse">
            <a:avLst/>
          </a:prstGeom>
          <a:solidFill>
            <a:srgbClr val="B7950B"/>
          </a:solidFill>
          <a:ln w="12700">
            <a:solidFill>
              <a:srgbClr val="B7950B"/>
            </a:solidFill>
            <a:prstDash val="solid"/>
          </a:ln>
        </p:spPr>
      </p:sp>
      <p:sp>
        <p:nvSpPr>
          <p:cNvPr id="58" name="Text 56"/>
          <p:cNvSpPr/>
          <p:nvPr/>
        </p:nvSpPr>
        <p:spPr>
          <a:xfrm>
            <a:off x="8613648" y="2130552"/>
            <a:ext cx="306324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1E293B"/>
                </a:solidFill>
              </a:rPr>
              <a:t>Dept Avg Comparison (JOIN)</a:t>
            </a:r>
            <a:endParaRPr lang="en-US" sz="950" dirty="0"/>
          </a:p>
        </p:txBody>
      </p:sp>
      <p:sp>
        <p:nvSpPr>
          <p:cNvPr id="59" name="Shape 57"/>
          <p:cNvSpPr/>
          <p:nvPr/>
        </p:nvSpPr>
        <p:spPr>
          <a:xfrm>
            <a:off x="8275320" y="2615184"/>
            <a:ext cx="3520440" cy="402336"/>
          </a:xfrm>
          <a:prstGeom prst="rect">
            <a:avLst/>
          </a:prstGeom>
          <a:solidFill>
            <a:srgbClr val="F0F4F8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60" name="Shape 58"/>
          <p:cNvSpPr/>
          <p:nvPr/>
        </p:nvSpPr>
        <p:spPr>
          <a:xfrm>
            <a:off x="8366760" y="2706624"/>
            <a:ext cx="164592" cy="164592"/>
          </a:xfrm>
          <a:prstGeom prst="ellipse">
            <a:avLst/>
          </a:prstGeom>
          <a:solidFill>
            <a:srgbClr val="B7950B"/>
          </a:solidFill>
          <a:ln w="12700">
            <a:solidFill>
              <a:srgbClr val="B7950B"/>
            </a:solidFill>
            <a:prstDash val="solid"/>
          </a:ln>
        </p:spPr>
      </p:sp>
      <p:sp>
        <p:nvSpPr>
          <p:cNvPr id="61" name="Text 59"/>
          <p:cNvSpPr/>
          <p:nvPr/>
        </p:nvSpPr>
        <p:spPr>
          <a:xfrm>
            <a:off x="8613648" y="2624328"/>
            <a:ext cx="306324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1E293B"/>
                </a:solidFill>
              </a:rPr>
              <a:t>High Risk + High Salary</a:t>
            </a:r>
            <a:endParaRPr lang="en-US" sz="950" dirty="0"/>
          </a:p>
        </p:txBody>
      </p:sp>
      <p:sp>
        <p:nvSpPr>
          <p:cNvPr id="62" name="Shape 60"/>
          <p:cNvSpPr/>
          <p:nvPr/>
        </p:nvSpPr>
        <p:spPr>
          <a:xfrm>
            <a:off x="8275320" y="3108960"/>
            <a:ext cx="3520440" cy="402336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63" name="Shape 61"/>
          <p:cNvSpPr/>
          <p:nvPr/>
        </p:nvSpPr>
        <p:spPr>
          <a:xfrm>
            <a:off x="8366760" y="3200400"/>
            <a:ext cx="164592" cy="164592"/>
          </a:xfrm>
          <a:prstGeom prst="ellipse">
            <a:avLst/>
          </a:prstGeom>
          <a:solidFill>
            <a:srgbClr val="B7950B"/>
          </a:solidFill>
          <a:ln w="12700">
            <a:solidFill>
              <a:srgbClr val="B7950B"/>
            </a:solidFill>
            <a:prstDash val="solid"/>
          </a:ln>
        </p:spPr>
      </p:sp>
      <p:sp>
        <p:nvSpPr>
          <p:cNvPr id="64" name="Text 62"/>
          <p:cNvSpPr/>
          <p:nvPr/>
        </p:nvSpPr>
        <p:spPr>
          <a:xfrm>
            <a:off x="8613648" y="3118104"/>
            <a:ext cx="306324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1E293B"/>
                </a:solidFill>
              </a:rPr>
              <a:t>Salary vs Budget (JOIN)</a:t>
            </a:r>
            <a:endParaRPr lang="en-US" sz="950" dirty="0"/>
          </a:p>
        </p:txBody>
      </p:sp>
      <p:sp>
        <p:nvSpPr>
          <p:cNvPr id="65" name="Shape 63"/>
          <p:cNvSpPr/>
          <p:nvPr/>
        </p:nvSpPr>
        <p:spPr>
          <a:xfrm>
            <a:off x="8275320" y="3602736"/>
            <a:ext cx="3520440" cy="402336"/>
          </a:xfrm>
          <a:prstGeom prst="rect">
            <a:avLst/>
          </a:prstGeom>
          <a:solidFill>
            <a:srgbClr val="F0F4F8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66" name="Shape 64"/>
          <p:cNvSpPr/>
          <p:nvPr/>
        </p:nvSpPr>
        <p:spPr>
          <a:xfrm>
            <a:off x="8366760" y="3694176"/>
            <a:ext cx="164592" cy="164592"/>
          </a:xfrm>
          <a:prstGeom prst="ellipse">
            <a:avLst/>
          </a:prstGeom>
          <a:solidFill>
            <a:srgbClr val="B7950B"/>
          </a:solidFill>
          <a:ln w="12700">
            <a:solidFill>
              <a:srgbClr val="B7950B"/>
            </a:solidFill>
            <a:prstDash val="solid"/>
          </a:ln>
        </p:spPr>
      </p:sp>
      <p:sp>
        <p:nvSpPr>
          <p:cNvPr id="67" name="Text 65"/>
          <p:cNvSpPr/>
          <p:nvPr/>
        </p:nvSpPr>
        <p:spPr>
          <a:xfrm>
            <a:off x="8613648" y="3611880"/>
            <a:ext cx="306324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1E293B"/>
                </a:solidFill>
              </a:rPr>
              <a:t>CREATE VIEW</a:t>
            </a:r>
            <a:endParaRPr lang="en-US" sz="950" dirty="0"/>
          </a:p>
        </p:txBody>
      </p:sp>
      <p:sp>
        <p:nvSpPr>
          <p:cNvPr id="68" name="Shape 66"/>
          <p:cNvSpPr/>
          <p:nvPr/>
        </p:nvSpPr>
        <p:spPr>
          <a:xfrm>
            <a:off x="8275320" y="4096512"/>
            <a:ext cx="3520440" cy="402336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69" name="Shape 67"/>
          <p:cNvSpPr/>
          <p:nvPr/>
        </p:nvSpPr>
        <p:spPr>
          <a:xfrm>
            <a:off x="8366760" y="4187952"/>
            <a:ext cx="164592" cy="164592"/>
          </a:xfrm>
          <a:prstGeom prst="ellipse">
            <a:avLst/>
          </a:prstGeom>
          <a:solidFill>
            <a:srgbClr val="B7950B"/>
          </a:solidFill>
          <a:ln w="12700">
            <a:solidFill>
              <a:srgbClr val="B7950B"/>
            </a:solidFill>
            <a:prstDash val="solid"/>
          </a:ln>
        </p:spPr>
      </p:sp>
      <p:sp>
        <p:nvSpPr>
          <p:cNvPr id="70" name="Text 68"/>
          <p:cNvSpPr/>
          <p:nvPr/>
        </p:nvSpPr>
        <p:spPr>
          <a:xfrm>
            <a:off x="8613648" y="4105656"/>
            <a:ext cx="306324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1E293B"/>
                </a:solidFill>
              </a:rPr>
              <a:t>CTE: Attrition Rate %</a:t>
            </a:r>
            <a:endParaRPr lang="en-US" sz="950" dirty="0"/>
          </a:p>
        </p:txBody>
      </p:sp>
      <p:sp>
        <p:nvSpPr>
          <p:cNvPr id="71" name="Shape 69"/>
          <p:cNvSpPr/>
          <p:nvPr/>
        </p:nvSpPr>
        <p:spPr>
          <a:xfrm>
            <a:off x="320040" y="6355080"/>
            <a:ext cx="1783080" cy="347472"/>
          </a:xfrm>
          <a:prstGeom prst="rect">
            <a:avLst/>
          </a:prstGeom>
          <a:solidFill>
            <a:srgbClr val="1A472A"/>
          </a:solidFill>
          <a:ln w="12700">
            <a:solidFill>
              <a:srgbClr val="FFD700"/>
            </a:solidFill>
            <a:prstDash val="solid"/>
          </a:ln>
          <a:effectLst>
            <a:outerShdw sx="100000" sy="100000" kx="0" ky="0" algn="bl" rotWithShape="0" blurRad="88900" dist="38100" dir="8100000">
              <a:srgbClr val="000000">
                <a:alpha val="18000"/>
              </a:srgbClr>
            </a:outerShdw>
          </a:effectLst>
        </p:spPr>
      </p:sp>
      <p:sp>
        <p:nvSpPr>
          <p:cNvPr id="72" name="Text 70"/>
          <p:cNvSpPr/>
          <p:nvPr/>
        </p:nvSpPr>
        <p:spPr>
          <a:xfrm>
            <a:off x="320040" y="6355080"/>
            <a:ext cx="178308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FFD700"/>
                </a:solidFill>
              </a:rPr>
              <a:t>2 Tables Created</a:t>
            </a:r>
            <a:endParaRPr lang="en-US" sz="900" dirty="0"/>
          </a:p>
        </p:txBody>
      </p:sp>
      <p:sp>
        <p:nvSpPr>
          <p:cNvPr id="73" name="Shape 71"/>
          <p:cNvSpPr/>
          <p:nvPr/>
        </p:nvSpPr>
        <p:spPr>
          <a:xfrm>
            <a:off x="2295144" y="6355080"/>
            <a:ext cx="1783080" cy="347472"/>
          </a:xfrm>
          <a:prstGeom prst="rect">
            <a:avLst/>
          </a:prstGeom>
          <a:solidFill>
            <a:srgbClr val="1A472A"/>
          </a:solidFill>
          <a:ln w="12700">
            <a:solidFill>
              <a:srgbClr val="FFD700"/>
            </a:solidFill>
            <a:prstDash val="solid"/>
          </a:ln>
          <a:effectLst>
            <a:outerShdw sx="100000" sy="100000" kx="0" ky="0" algn="bl" rotWithShape="0" blurRad="88900" dist="38100" dir="8100000">
              <a:srgbClr val="000000">
                <a:alpha val="18000"/>
              </a:srgbClr>
            </a:outerShdw>
          </a:effectLst>
        </p:spPr>
      </p:sp>
      <p:sp>
        <p:nvSpPr>
          <p:cNvPr id="74" name="Text 72"/>
          <p:cNvSpPr/>
          <p:nvPr/>
        </p:nvSpPr>
        <p:spPr>
          <a:xfrm>
            <a:off x="2295144" y="6355080"/>
            <a:ext cx="178308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FFD700"/>
                </a:solidFill>
              </a:rPr>
              <a:t>JOIN Used</a:t>
            </a:r>
            <a:endParaRPr lang="en-US" sz="900" dirty="0"/>
          </a:p>
        </p:txBody>
      </p:sp>
      <p:sp>
        <p:nvSpPr>
          <p:cNvPr id="75" name="Shape 73"/>
          <p:cNvSpPr/>
          <p:nvPr/>
        </p:nvSpPr>
        <p:spPr>
          <a:xfrm>
            <a:off x="4270248" y="6355080"/>
            <a:ext cx="1783080" cy="347472"/>
          </a:xfrm>
          <a:prstGeom prst="rect">
            <a:avLst/>
          </a:prstGeom>
          <a:solidFill>
            <a:srgbClr val="1A472A"/>
          </a:solidFill>
          <a:ln w="12700">
            <a:solidFill>
              <a:srgbClr val="FFD700"/>
            </a:solidFill>
            <a:prstDash val="solid"/>
          </a:ln>
          <a:effectLst>
            <a:outerShdw sx="100000" sy="100000" kx="0" ky="0" algn="bl" rotWithShape="0" blurRad="88900" dist="38100" dir="8100000">
              <a:srgbClr val="000000">
                <a:alpha val="18000"/>
              </a:srgbClr>
            </a:outerShdw>
          </a:effectLst>
        </p:spPr>
      </p:sp>
      <p:sp>
        <p:nvSpPr>
          <p:cNvPr id="76" name="Text 74"/>
          <p:cNvSpPr/>
          <p:nvPr/>
        </p:nvSpPr>
        <p:spPr>
          <a:xfrm>
            <a:off x="4270248" y="6355080"/>
            <a:ext cx="178308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FFD700"/>
                </a:solidFill>
              </a:rPr>
              <a:t>CREATE VIEW</a:t>
            </a:r>
            <a:endParaRPr lang="en-US" sz="900" dirty="0"/>
          </a:p>
        </p:txBody>
      </p:sp>
      <p:sp>
        <p:nvSpPr>
          <p:cNvPr id="77" name="Shape 75"/>
          <p:cNvSpPr/>
          <p:nvPr/>
        </p:nvSpPr>
        <p:spPr>
          <a:xfrm>
            <a:off x="6245352" y="6355080"/>
            <a:ext cx="1783080" cy="347472"/>
          </a:xfrm>
          <a:prstGeom prst="rect">
            <a:avLst/>
          </a:prstGeom>
          <a:solidFill>
            <a:srgbClr val="1A472A"/>
          </a:solidFill>
          <a:ln w="12700">
            <a:solidFill>
              <a:srgbClr val="FFD700"/>
            </a:solidFill>
            <a:prstDash val="solid"/>
          </a:ln>
          <a:effectLst>
            <a:outerShdw sx="100000" sy="100000" kx="0" ky="0" algn="bl" rotWithShape="0" blurRad="88900" dist="38100" dir="8100000">
              <a:srgbClr val="000000">
                <a:alpha val="18000"/>
              </a:srgbClr>
            </a:outerShdw>
          </a:effectLst>
        </p:spPr>
      </p:sp>
      <p:sp>
        <p:nvSpPr>
          <p:cNvPr id="78" name="Text 76"/>
          <p:cNvSpPr/>
          <p:nvPr/>
        </p:nvSpPr>
        <p:spPr>
          <a:xfrm>
            <a:off x="6245352" y="6355080"/>
            <a:ext cx="178308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FFD700"/>
                </a:solidFill>
              </a:rPr>
              <a:t>CTE Used</a:t>
            </a:r>
            <a:endParaRPr lang="en-US" sz="900" dirty="0"/>
          </a:p>
        </p:txBody>
      </p:sp>
      <p:sp>
        <p:nvSpPr>
          <p:cNvPr id="79" name="Shape 77"/>
          <p:cNvSpPr/>
          <p:nvPr/>
        </p:nvSpPr>
        <p:spPr>
          <a:xfrm>
            <a:off x="8220456" y="6355080"/>
            <a:ext cx="1783080" cy="347472"/>
          </a:xfrm>
          <a:prstGeom prst="rect">
            <a:avLst/>
          </a:prstGeom>
          <a:solidFill>
            <a:srgbClr val="1A472A"/>
          </a:solidFill>
          <a:ln w="12700">
            <a:solidFill>
              <a:srgbClr val="FFD700"/>
            </a:solidFill>
            <a:prstDash val="solid"/>
          </a:ln>
          <a:effectLst>
            <a:outerShdw sx="100000" sy="100000" kx="0" ky="0" algn="bl" rotWithShape="0" blurRad="88900" dist="38100" dir="8100000">
              <a:srgbClr val="000000">
                <a:alpha val="18000"/>
              </a:srgbClr>
            </a:outerShdw>
          </a:effectLst>
        </p:spPr>
      </p:sp>
      <p:sp>
        <p:nvSpPr>
          <p:cNvPr id="80" name="Text 78"/>
          <p:cNvSpPr/>
          <p:nvPr/>
        </p:nvSpPr>
        <p:spPr>
          <a:xfrm>
            <a:off x="8220456" y="6355080"/>
            <a:ext cx="178308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FFD700"/>
                </a:solidFill>
              </a:rPr>
              <a:t>Subqueries</a:t>
            </a:r>
            <a:endParaRPr lang="en-US" sz="900" dirty="0"/>
          </a:p>
        </p:txBody>
      </p:sp>
      <p:sp>
        <p:nvSpPr>
          <p:cNvPr id="81" name="Shape 79"/>
          <p:cNvSpPr/>
          <p:nvPr/>
        </p:nvSpPr>
        <p:spPr>
          <a:xfrm>
            <a:off x="10195560" y="6355080"/>
            <a:ext cx="1783080" cy="347472"/>
          </a:xfrm>
          <a:prstGeom prst="rect">
            <a:avLst/>
          </a:prstGeom>
          <a:solidFill>
            <a:srgbClr val="1A472A"/>
          </a:solidFill>
          <a:ln w="12700">
            <a:solidFill>
              <a:srgbClr val="FFD700"/>
            </a:solidFill>
            <a:prstDash val="solid"/>
          </a:ln>
          <a:effectLst>
            <a:outerShdw sx="100000" sy="100000" kx="0" ky="0" algn="bl" rotWithShape="0" blurRad="88900" dist="38100" dir="8100000">
              <a:srgbClr val="000000">
                <a:alpha val="18000"/>
              </a:srgbClr>
            </a:outerShdw>
          </a:effectLst>
        </p:spPr>
      </p:sp>
      <p:sp>
        <p:nvSpPr>
          <p:cNvPr id="82" name="Text 80"/>
          <p:cNvSpPr/>
          <p:nvPr/>
        </p:nvSpPr>
        <p:spPr>
          <a:xfrm>
            <a:off x="10195560" y="6355080"/>
            <a:ext cx="178308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FFD700"/>
                </a:solidFill>
              </a:rPr>
              <a:t>18 Total Queries</a:t>
            </a:r>
            <a:endParaRPr lang="en-US" sz="9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8FA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61520" cy="987552"/>
          </a:xfrm>
          <a:prstGeom prst="rect">
            <a:avLst/>
          </a:prstGeom>
          <a:solidFill>
            <a:srgbClr val="0A1628"/>
          </a:solidFill>
          <a:ln w="12700">
            <a:solidFill>
              <a:srgbClr val="0A1628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987552"/>
            <a:ext cx="12161520" cy="54864"/>
          </a:xfrm>
          <a:prstGeom prst="rect">
            <a:avLst/>
          </a:prstGeom>
          <a:solidFill>
            <a:srgbClr val="FFD700"/>
          </a:solidFill>
          <a:ln w="12700">
            <a:solidFill>
              <a:srgbClr val="FFD700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365760" y="64008"/>
            <a:ext cx="1143000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Phase 3  —  Power BI Dashboards</a:t>
            </a:r>
            <a:endParaRPr lang="en-US" sz="2100" dirty="0"/>
          </a:p>
        </p:txBody>
      </p:sp>
      <p:sp>
        <p:nvSpPr>
          <p:cNvPr id="5" name="Text 3"/>
          <p:cNvSpPr/>
          <p:nvPr/>
        </p:nvSpPr>
        <p:spPr>
          <a:xfrm>
            <a:off x="365760" y="566928"/>
            <a:ext cx="11430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94A3B8"/>
                </a:solidFill>
              </a:rPr>
              <a:t>4 dashboards  •  228 visuals  •  Dark Green &amp; Gold theme  •  11 DAX measures</a:t>
            </a:r>
            <a:endParaRPr lang="en-US" sz="1050" dirty="0"/>
          </a:p>
        </p:txBody>
      </p:sp>
      <p:sp>
        <p:nvSpPr>
          <p:cNvPr id="6" name="Shape 4"/>
          <p:cNvSpPr/>
          <p:nvPr/>
        </p:nvSpPr>
        <p:spPr>
          <a:xfrm>
            <a:off x="0" y="6601968"/>
            <a:ext cx="12161520" cy="256032"/>
          </a:xfrm>
          <a:prstGeom prst="rect">
            <a:avLst/>
          </a:prstGeom>
          <a:solidFill>
            <a:srgbClr val="0A1628"/>
          </a:solidFill>
          <a:ln w="12700">
            <a:solidFill>
              <a:srgbClr val="0A1628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365760" y="6620256"/>
            <a:ext cx="114300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50" dirty="0">
                <a:solidFill>
                  <a:srgbClr val="94A3B8"/>
                </a:solidFill>
              </a:rPr>
              <a:t>HR Attrition Analysis  •  Rohan Kumar  •  6-Day Project  •  2024</a:t>
            </a:r>
            <a:endParaRPr lang="en-US" sz="750" dirty="0"/>
          </a:p>
        </p:txBody>
      </p:sp>
      <p:sp>
        <p:nvSpPr>
          <p:cNvPr id="8" name="Shape 6"/>
          <p:cNvSpPr/>
          <p:nvPr/>
        </p:nvSpPr>
        <p:spPr>
          <a:xfrm>
            <a:off x="320040" y="1188720"/>
            <a:ext cx="8046720" cy="1024128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sx="100000" sy="100000" kx="0" ky="0" algn="bl" rotWithShape="0" blurRad="88900" dist="38100" dir="8100000">
              <a:srgbClr val="000000">
                <a:alpha val="18000"/>
              </a:srgbClr>
            </a:outerShdw>
          </a:effectLst>
        </p:spPr>
      </p:sp>
      <p:sp>
        <p:nvSpPr>
          <p:cNvPr id="9" name="Shape 7"/>
          <p:cNvSpPr/>
          <p:nvPr/>
        </p:nvSpPr>
        <p:spPr>
          <a:xfrm>
            <a:off x="320040" y="1188720"/>
            <a:ext cx="685800" cy="1024128"/>
          </a:xfrm>
          <a:prstGeom prst="rect">
            <a:avLst/>
          </a:prstGeom>
          <a:solidFill>
            <a:srgbClr val="FFD700"/>
          </a:solidFill>
          <a:ln w="12700">
            <a:solidFill>
              <a:srgbClr val="FFD700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320040" y="1188720"/>
            <a:ext cx="685800" cy="10241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FFFFFF"/>
                </a:solidFill>
              </a:rPr>
              <a:t>01</a:t>
            </a:r>
            <a:endParaRPr lang="en-US" sz="1800" dirty="0"/>
          </a:p>
        </p:txBody>
      </p:sp>
      <p:sp>
        <p:nvSpPr>
          <p:cNvPr id="11" name="Text 9"/>
          <p:cNvSpPr/>
          <p:nvPr/>
        </p:nvSpPr>
        <p:spPr>
          <a:xfrm>
            <a:off x="1097280" y="1280160"/>
            <a:ext cx="713232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0A1628"/>
                </a:solidFill>
              </a:rPr>
              <a:t>Attrition Overview</a:t>
            </a:r>
            <a:endParaRPr lang="en-US" sz="1300" dirty="0"/>
          </a:p>
        </p:txBody>
      </p:sp>
      <p:sp>
        <p:nvSpPr>
          <p:cNvPr id="12" name="Text 10"/>
          <p:cNvSpPr/>
          <p:nvPr/>
        </p:nvSpPr>
        <p:spPr>
          <a:xfrm>
            <a:off x="1097280" y="1618488"/>
            <a:ext cx="713232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64748B"/>
                </a:solidFill>
              </a:rPr>
              <a:t>17 Cards  •  9 Bar Charts  •  2 Donut  •  2 Pie  •  12 Slicers</a:t>
            </a:r>
            <a:endParaRPr lang="en-US" sz="950" dirty="0"/>
          </a:p>
        </p:txBody>
      </p:sp>
      <p:sp>
        <p:nvSpPr>
          <p:cNvPr id="13" name="Shape 11"/>
          <p:cNvSpPr/>
          <p:nvPr/>
        </p:nvSpPr>
        <p:spPr>
          <a:xfrm>
            <a:off x="320040" y="2377440"/>
            <a:ext cx="8046720" cy="1024128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sx="100000" sy="100000" kx="0" ky="0" algn="bl" rotWithShape="0" blurRad="88900" dist="38100" dir="8100000">
              <a:srgbClr val="000000">
                <a:alpha val="18000"/>
              </a:srgbClr>
            </a:outerShdw>
          </a:effectLst>
        </p:spPr>
      </p:sp>
      <p:sp>
        <p:nvSpPr>
          <p:cNvPr id="14" name="Shape 12"/>
          <p:cNvSpPr/>
          <p:nvPr/>
        </p:nvSpPr>
        <p:spPr>
          <a:xfrm>
            <a:off x="320040" y="2377440"/>
            <a:ext cx="685800" cy="1024128"/>
          </a:xfrm>
          <a:prstGeom prst="rect">
            <a:avLst/>
          </a:prstGeom>
          <a:solidFill>
            <a:srgbClr val="1A472A"/>
          </a:solidFill>
          <a:ln w="12700">
            <a:solidFill>
              <a:srgbClr val="1A472A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320040" y="2377440"/>
            <a:ext cx="685800" cy="10241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FFFFFF"/>
                </a:solidFill>
              </a:rPr>
              <a:t>02</a:t>
            </a:r>
            <a:endParaRPr lang="en-US" sz="1800" dirty="0"/>
          </a:p>
        </p:txBody>
      </p:sp>
      <p:sp>
        <p:nvSpPr>
          <p:cNvPr id="16" name="Text 14"/>
          <p:cNvSpPr/>
          <p:nvPr/>
        </p:nvSpPr>
        <p:spPr>
          <a:xfrm>
            <a:off x="1097280" y="2468880"/>
            <a:ext cx="713232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0A1628"/>
                </a:solidFill>
              </a:rPr>
              <a:t>Department Analysis</a:t>
            </a:r>
            <a:endParaRPr lang="en-US" sz="1300" dirty="0"/>
          </a:p>
        </p:txBody>
      </p:sp>
      <p:sp>
        <p:nvSpPr>
          <p:cNvPr id="17" name="Text 15"/>
          <p:cNvSpPr/>
          <p:nvPr/>
        </p:nvSpPr>
        <p:spPr>
          <a:xfrm>
            <a:off x="1097280" y="2807208"/>
            <a:ext cx="713232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64748B"/>
                </a:solidFill>
              </a:rPr>
              <a:t>Headcount vs Attrition  •  Job Role Analysis  •  Satisfaction</a:t>
            </a:r>
            <a:endParaRPr lang="en-US" sz="950" dirty="0"/>
          </a:p>
        </p:txBody>
      </p:sp>
      <p:sp>
        <p:nvSpPr>
          <p:cNvPr id="18" name="Shape 16"/>
          <p:cNvSpPr/>
          <p:nvPr/>
        </p:nvSpPr>
        <p:spPr>
          <a:xfrm>
            <a:off x="320040" y="3566160"/>
            <a:ext cx="8046720" cy="1024128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sx="100000" sy="100000" kx="0" ky="0" algn="bl" rotWithShape="0" blurRad="88900" dist="38100" dir="8100000">
              <a:srgbClr val="000000">
                <a:alpha val="18000"/>
              </a:srgbClr>
            </a:outerShdw>
          </a:effectLst>
        </p:spPr>
      </p:sp>
      <p:sp>
        <p:nvSpPr>
          <p:cNvPr id="19" name="Shape 17"/>
          <p:cNvSpPr/>
          <p:nvPr/>
        </p:nvSpPr>
        <p:spPr>
          <a:xfrm>
            <a:off x="320040" y="3566160"/>
            <a:ext cx="685800" cy="1024128"/>
          </a:xfrm>
          <a:prstGeom prst="rect">
            <a:avLst/>
          </a:prstGeom>
          <a:solidFill>
            <a:srgbClr val="E67E22"/>
          </a:solidFill>
          <a:ln w="12700">
            <a:solidFill>
              <a:srgbClr val="E67E22"/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320040" y="3566160"/>
            <a:ext cx="685800" cy="10241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FFFFFF"/>
                </a:solidFill>
              </a:rPr>
              <a:t>03</a:t>
            </a:r>
            <a:endParaRPr lang="en-US" sz="1800" dirty="0"/>
          </a:p>
        </p:txBody>
      </p:sp>
      <p:sp>
        <p:nvSpPr>
          <p:cNvPr id="21" name="Text 19"/>
          <p:cNvSpPr/>
          <p:nvPr/>
        </p:nvSpPr>
        <p:spPr>
          <a:xfrm>
            <a:off x="1097280" y="3657600"/>
            <a:ext cx="713232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0A1628"/>
                </a:solidFill>
              </a:rPr>
              <a:t>Salary Analysis</a:t>
            </a:r>
            <a:endParaRPr lang="en-US" sz="1300" dirty="0"/>
          </a:p>
        </p:txBody>
      </p:sp>
      <p:sp>
        <p:nvSpPr>
          <p:cNvPr id="22" name="Text 20"/>
          <p:cNvSpPr/>
          <p:nvPr/>
        </p:nvSpPr>
        <p:spPr>
          <a:xfrm>
            <a:off x="1097280" y="3995928"/>
            <a:ext cx="713232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64748B"/>
                </a:solidFill>
              </a:rPr>
              <a:t>Scatter Chart  •  Salary Band  •  Income vs Tenure Pattern</a:t>
            </a:r>
            <a:endParaRPr lang="en-US" sz="950" dirty="0"/>
          </a:p>
        </p:txBody>
      </p:sp>
      <p:sp>
        <p:nvSpPr>
          <p:cNvPr id="23" name="Shape 21"/>
          <p:cNvSpPr/>
          <p:nvPr/>
        </p:nvSpPr>
        <p:spPr>
          <a:xfrm>
            <a:off x="320040" y="4754880"/>
            <a:ext cx="8046720" cy="1024128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sx="100000" sy="100000" kx="0" ky="0" algn="bl" rotWithShape="0" blurRad="88900" dist="38100" dir="8100000">
              <a:srgbClr val="000000">
                <a:alpha val="18000"/>
              </a:srgbClr>
            </a:outerShdw>
          </a:effectLst>
        </p:spPr>
      </p:sp>
      <p:sp>
        <p:nvSpPr>
          <p:cNvPr id="24" name="Shape 22"/>
          <p:cNvSpPr/>
          <p:nvPr/>
        </p:nvSpPr>
        <p:spPr>
          <a:xfrm>
            <a:off x="320040" y="4754880"/>
            <a:ext cx="685800" cy="1024128"/>
          </a:xfrm>
          <a:prstGeom prst="rect">
            <a:avLst/>
          </a:prstGeom>
          <a:solidFill>
            <a:srgbClr val="EF4444"/>
          </a:solidFill>
          <a:ln w="12700">
            <a:solidFill>
              <a:srgbClr val="EF4444"/>
            </a:solidFill>
            <a:prstDash val="solid"/>
          </a:ln>
        </p:spPr>
      </p:sp>
      <p:sp>
        <p:nvSpPr>
          <p:cNvPr id="25" name="Text 23"/>
          <p:cNvSpPr/>
          <p:nvPr/>
        </p:nvSpPr>
        <p:spPr>
          <a:xfrm>
            <a:off x="320040" y="4754880"/>
            <a:ext cx="685800" cy="10241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FFFFFF"/>
                </a:solidFill>
              </a:rPr>
              <a:t>04</a:t>
            </a:r>
            <a:endParaRPr lang="en-US" sz="1800" dirty="0"/>
          </a:p>
        </p:txBody>
      </p:sp>
      <p:sp>
        <p:nvSpPr>
          <p:cNvPr id="26" name="Text 24"/>
          <p:cNvSpPr/>
          <p:nvPr/>
        </p:nvSpPr>
        <p:spPr>
          <a:xfrm>
            <a:off x="1097280" y="4846320"/>
            <a:ext cx="713232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0A1628"/>
                </a:solidFill>
              </a:rPr>
              <a:t>Risk Analysis</a:t>
            </a:r>
            <a:endParaRPr lang="en-US" sz="1300" dirty="0"/>
          </a:p>
        </p:txBody>
      </p:sp>
      <p:sp>
        <p:nvSpPr>
          <p:cNvPr id="27" name="Text 25"/>
          <p:cNvSpPr/>
          <p:nvPr/>
        </p:nvSpPr>
        <p:spPr>
          <a:xfrm>
            <a:off x="1097280" y="5184648"/>
            <a:ext cx="713232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64748B"/>
                </a:solidFill>
              </a:rPr>
              <a:t>Risk Level  •  High Risk Roles  •  Satisfaction vs Income Map</a:t>
            </a:r>
            <a:endParaRPr lang="en-US" sz="950" dirty="0"/>
          </a:p>
        </p:txBody>
      </p:sp>
      <p:sp>
        <p:nvSpPr>
          <p:cNvPr id="28" name="Shape 26"/>
          <p:cNvSpPr/>
          <p:nvPr/>
        </p:nvSpPr>
        <p:spPr>
          <a:xfrm>
            <a:off x="8549640" y="1188720"/>
            <a:ext cx="3291840" cy="4663440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sx="100000" sy="100000" kx="0" ky="0" algn="bl" rotWithShape="0" blurRad="88900" dist="38100" dir="8100000">
              <a:srgbClr val="000000">
                <a:alpha val="18000"/>
              </a:srgbClr>
            </a:outerShdw>
          </a:effectLst>
        </p:spPr>
      </p:sp>
      <p:sp>
        <p:nvSpPr>
          <p:cNvPr id="29" name="Shape 27"/>
          <p:cNvSpPr/>
          <p:nvPr/>
        </p:nvSpPr>
        <p:spPr>
          <a:xfrm>
            <a:off x="8549640" y="1188720"/>
            <a:ext cx="3291840" cy="347472"/>
          </a:xfrm>
          <a:prstGeom prst="rect">
            <a:avLst/>
          </a:prstGeom>
          <a:solidFill>
            <a:srgbClr val="0A1628"/>
          </a:solidFill>
          <a:ln w="12700">
            <a:solidFill>
              <a:srgbClr val="0A1628"/>
            </a:solidFill>
            <a:prstDash val="solid"/>
          </a:ln>
        </p:spPr>
      </p:sp>
      <p:sp>
        <p:nvSpPr>
          <p:cNvPr id="30" name="Text 28"/>
          <p:cNvSpPr/>
          <p:nvPr/>
        </p:nvSpPr>
        <p:spPr>
          <a:xfrm>
            <a:off x="8641080" y="1188720"/>
            <a:ext cx="310896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FFFFFF"/>
                </a:solidFill>
              </a:rPr>
              <a:t>Visual Breakdown</a:t>
            </a:r>
            <a:endParaRPr lang="en-US" sz="1050" dirty="0"/>
          </a:p>
        </p:txBody>
      </p:sp>
      <p:sp>
        <p:nvSpPr>
          <p:cNvPr id="31" name="Shape 29"/>
          <p:cNvSpPr/>
          <p:nvPr/>
        </p:nvSpPr>
        <p:spPr>
          <a:xfrm>
            <a:off x="8641080" y="1627632"/>
            <a:ext cx="3108960" cy="329184"/>
          </a:xfrm>
          <a:prstGeom prst="rect">
            <a:avLst/>
          </a:prstGeom>
          <a:solidFill>
            <a:srgbClr val="F0F4F8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32" name="Text 30"/>
          <p:cNvSpPr/>
          <p:nvPr/>
        </p:nvSpPr>
        <p:spPr>
          <a:xfrm>
            <a:off x="8732520" y="1645920"/>
            <a:ext cx="19202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0A1628"/>
                </a:solidFill>
              </a:rPr>
              <a:t>KPI Cards</a:t>
            </a:r>
            <a:endParaRPr lang="en-US" sz="850" dirty="0"/>
          </a:p>
        </p:txBody>
      </p:sp>
      <p:sp>
        <p:nvSpPr>
          <p:cNvPr id="33" name="Text 31"/>
          <p:cNvSpPr/>
          <p:nvPr/>
        </p:nvSpPr>
        <p:spPr>
          <a:xfrm>
            <a:off x="10652760" y="1645920"/>
            <a:ext cx="9144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50" b="1" dirty="0">
                <a:solidFill>
                  <a:srgbClr val="FFD700"/>
                </a:solidFill>
              </a:rPr>
              <a:t>17×4 = 68</a:t>
            </a:r>
            <a:endParaRPr lang="en-US" sz="850" dirty="0"/>
          </a:p>
        </p:txBody>
      </p:sp>
      <p:sp>
        <p:nvSpPr>
          <p:cNvPr id="34" name="Shape 32"/>
          <p:cNvSpPr/>
          <p:nvPr/>
        </p:nvSpPr>
        <p:spPr>
          <a:xfrm>
            <a:off x="8641080" y="2011680"/>
            <a:ext cx="3108960" cy="329184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35" name="Text 33"/>
          <p:cNvSpPr/>
          <p:nvPr/>
        </p:nvSpPr>
        <p:spPr>
          <a:xfrm>
            <a:off x="8732520" y="2029968"/>
            <a:ext cx="19202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0A1628"/>
                </a:solidFill>
              </a:rPr>
              <a:t>Bar Charts</a:t>
            </a:r>
            <a:endParaRPr lang="en-US" sz="850" dirty="0"/>
          </a:p>
        </p:txBody>
      </p:sp>
      <p:sp>
        <p:nvSpPr>
          <p:cNvPr id="36" name="Text 34"/>
          <p:cNvSpPr/>
          <p:nvPr/>
        </p:nvSpPr>
        <p:spPr>
          <a:xfrm>
            <a:off x="10652760" y="2029968"/>
            <a:ext cx="9144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50" b="1" dirty="0">
                <a:solidFill>
                  <a:srgbClr val="E67E22"/>
                </a:solidFill>
              </a:rPr>
              <a:t>9×4 = 36</a:t>
            </a:r>
            <a:endParaRPr lang="en-US" sz="850" dirty="0"/>
          </a:p>
        </p:txBody>
      </p:sp>
      <p:sp>
        <p:nvSpPr>
          <p:cNvPr id="37" name="Shape 35"/>
          <p:cNvSpPr/>
          <p:nvPr/>
        </p:nvSpPr>
        <p:spPr>
          <a:xfrm>
            <a:off x="8641080" y="2395728"/>
            <a:ext cx="3108960" cy="329184"/>
          </a:xfrm>
          <a:prstGeom prst="rect">
            <a:avLst/>
          </a:prstGeom>
          <a:solidFill>
            <a:srgbClr val="F0F4F8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38" name="Text 36"/>
          <p:cNvSpPr/>
          <p:nvPr/>
        </p:nvSpPr>
        <p:spPr>
          <a:xfrm>
            <a:off x="8732520" y="2414016"/>
            <a:ext cx="19202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0A1628"/>
                </a:solidFill>
              </a:rPr>
              <a:t>Slicers</a:t>
            </a:r>
            <a:endParaRPr lang="en-US" sz="850" dirty="0"/>
          </a:p>
        </p:txBody>
      </p:sp>
      <p:sp>
        <p:nvSpPr>
          <p:cNvPr id="39" name="Text 37"/>
          <p:cNvSpPr/>
          <p:nvPr/>
        </p:nvSpPr>
        <p:spPr>
          <a:xfrm>
            <a:off x="10652760" y="2414016"/>
            <a:ext cx="9144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50" b="1" dirty="0">
                <a:solidFill>
                  <a:srgbClr val="8B5CF6"/>
                </a:solidFill>
              </a:rPr>
              <a:t>12×4 = 48</a:t>
            </a:r>
            <a:endParaRPr lang="en-US" sz="850" dirty="0"/>
          </a:p>
        </p:txBody>
      </p:sp>
      <p:sp>
        <p:nvSpPr>
          <p:cNvPr id="40" name="Shape 38"/>
          <p:cNvSpPr/>
          <p:nvPr/>
        </p:nvSpPr>
        <p:spPr>
          <a:xfrm>
            <a:off x="8641080" y="2779776"/>
            <a:ext cx="3108960" cy="329184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41" name="Text 39"/>
          <p:cNvSpPr/>
          <p:nvPr/>
        </p:nvSpPr>
        <p:spPr>
          <a:xfrm>
            <a:off x="8732520" y="2798064"/>
            <a:ext cx="19202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0A1628"/>
                </a:solidFill>
              </a:rPr>
              <a:t>Column Charts</a:t>
            </a:r>
            <a:endParaRPr lang="en-US" sz="850" dirty="0"/>
          </a:p>
        </p:txBody>
      </p:sp>
      <p:sp>
        <p:nvSpPr>
          <p:cNvPr id="42" name="Text 40"/>
          <p:cNvSpPr/>
          <p:nvPr/>
        </p:nvSpPr>
        <p:spPr>
          <a:xfrm>
            <a:off x="10652760" y="2798064"/>
            <a:ext cx="9144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50" b="1" dirty="0">
                <a:solidFill>
                  <a:srgbClr val="1A472A"/>
                </a:solidFill>
              </a:rPr>
              <a:t>4×4 = 16</a:t>
            </a:r>
            <a:endParaRPr lang="en-US" sz="850" dirty="0"/>
          </a:p>
        </p:txBody>
      </p:sp>
      <p:sp>
        <p:nvSpPr>
          <p:cNvPr id="43" name="Shape 41"/>
          <p:cNvSpPr/>
          <p:nvPr/>
        </p:nvSpPr>
        <p:spPr>
          <a:xfrm>
            <a:off x="8641080" y="3163824"/>
            <a:ext cx="3108960" cy="329184"/>
          </a:xfrm>
          <a:prstGeom prst="rect">
            <a:avLst/>
          </a:prstGeom>
          <a:solidFill>
            <a:srgbClr val="F0F4F8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44" name="Text 42"/>
          <p:cNvSpPr/>
          <p:nvPr/>
        </p:nvSpPr>
        <p:spPr>
          <a:xfrm>
            <a:off x="8732520" y="3182112"/>
            <a:ext cx="19202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0A1628"/>
                </a:solidFill>
              </a:rPr>
              <a:t>Line Charts</a:t>
            </a:r>
            <a:endParaRPr lang="en-US" sz="850" dirty="0"/>
          </a:p>
        </p:txBody>
      </p:sp>
      <p:sp>
        <p:nvSpPr>
          <p:cNvPr id="45" name="Text 43"/>
          <p:cNvSpPr/>
          <p:nvPr/>
        </p:nvSpPr>
        <p:spPr>
          <a:xfrm>
            <a:off x="10652760" y="3182112"/>
            <a:ext cx="9144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50" b="1" dirty="0">
                <a:solidFill>
                  <a:srgbClr val="22C55E"/>
                </a:solidFill>
              </a:rPr>
              <a:t>2×4 = 8</a:t>
            </a:r>
            <a:endParaRPr lang="en-US" sz="850" dirty="0"/>
          </a:p>
        </p:txBody>
      </p:sp>
      <p:sp>
        <p:nvSpPr>
          <p:cNvPr id="46" name="Shape 44"/>
          <p:cNvSpPr/>
          <p:nvPr/>
        </p:nvSpPr>
        <p:spPr>
          <a:xfrm>
            <a:off x="8641080" y="3547872"/>
            <a:ext cx="3108960" cy="329184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47" name="Text 45"/>
          <p:cNvSpPr/>
          <p:nvPr/>
        </p:nvSpPr>
        <p:spPr>
          <a:xfrm>
            <a:off x="8732520" y="3566160"/>
            <a:ext cx="19202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0A1628"/>
                </a:solidFill>
              </a:rPr>
              <a:t>Scatter Charts</a:t>
            </a:r>
            <a:endParaRPr lang="en-US" sz="850" dirty="0"/>
          </a:p>
        </p:txBody>
      </p:sp>
      <p:sp>
        <p:nvSpPr>
          <p:cNvPr id="48" name="Text 46"/>
          <p:cNvSpPr/>
          <p:nvPr/>
        </p:nvSpPr>
        <p:spPr>
          <a:xfrm>
            <a:off x="10652760" y="3566160"/>
            <a:ext cx="9144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50" b="1" dirty="0">
                <a:solidFill>
                  <a:srgbClr val="3B82F6"/>
                </a:solidFill>
              </a:rPr>
              <a:t>2×4 = 8</a:t>
            </a:r>
            <a:endParaRPr lang="en-US" sz="850" dirty="0"/>
          </a:p>
        </p:txBody>
      </p:sp>
      <p:sp>
        <p:nvSpPr>
          <p:cNvPr id="49" name="Shape 47"/>
          <p:cNvSpPr/>
          <p:nvPr/>
        </p:nvSpPr>
        <p:spPr>
          <a:xfrm>
            <a:off x="8641080" y="3931920"/>
            <a:ext cx="3108960" cy="329184"/>
          </a:xfrm>
          <a:prstGeom prst="rect">
            <a:avLst/>
          </a:prstGeom>
          <a:solidFill>
            <a:srgbClr val="F0F4F8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50" name="Text 48"/>
          <p:cNvSpPr/>
          <p:nvPr/>
        </p:nvSpPr>
        <p:spPr>
          <a:xfrm>
            <a:off x="8732520" y="3950208"/>
            <a:ext cx="19202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0A1628"/>
                </a:solidFill>
              </a:rPr>
              <a:t>Donut Charts</a:t>
            </a:r>
            <a:endParaRPr lang="en-US" sz="850" dirty="0"/>
          </a:p>
        </p:txBody>
      </p:sp>
      <p:sp>
        <p:nvSpPr>
          <p:cNvPr id="51" name="Text 49"/>
          <p:cNvSpPr/>
          <p:nvPr/>
        </p:nvSpPr>
        <p:spPr>
          <a:xfrm>
            <a:off x="10652760" y="3950208"/>
            <a:ext cx="9144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50" b="1" dirty="0">
                <a:solidFill>
                  <a:srgbClr val="EC4899"/>
                </a:solidFill>
              </a:rPr>
              <a:t>2×4 = 8</a:t>
            </a:r>
            <a:endParaRPr lang="en-US" sz="850" dirty="0"/>
          </a:p>
        </p:txBody>
      </p:sp>
      <p:sp>
        <p:nvSpPr>
          <p:cNvPr id="52" name="Shape 50"/>
          <p:cNvSpPr/>
          <p:nvPr/>
        </p:nvSpPr>
        <p:spPr>
          <a:xfrm>
            <a:off x="8641080" y="4315968"/>
            <a:ext cx="3108960" cy="329184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53" name="Text 51"/>
          <p:cNvSpPr/>
          <p:nvPr/>
        </p:nvSpPr>
        <p:spPr>
          <a:xfrm>
            <a:off x="8732520" y="4334256"/>
            <a:ext cx="19202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0A1628"/>
                </a:solidFill>
              </a:rPr>
              <a:t>Pie Charts</a:t>
            </a:r>
            <a:endParaRPr lang="en-US" sz="850" dirty="0"/>
          </a:p>
        </p:txBody>
      </p:sp>
      <p:sp>
        <p:nvSpPr>
          <p:cNvPr id="54" name="Text 52"/>
          <p:cNvSpPr/>
          <p:nvPr/>
        </p:nvSpPr>
        <p:spPr>
          <a:xfrm>
            <a:off x="10652760" y="4334256"/>
            <a:ext cx="9144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50" b="1" dirty="0">
                <a:solidFill>
                  <a:srgbClr val="06B6D4"/>
                </a:solidFill>
              </a:rPr>
              <a:t>2×4 = 8</a:t>
            </a:r>
            <a:endParaRPr lang="en-US" sz="850" dirty="0"/>
          </a:p>
        </p:txBody>
      </p:sp>
      <p:sp>
        <p:nvSpPr>
          <p:cNvPr id="55" name="Shape 53"/>
          <p:cNvSpPr/>
          <p:nvPr/>
        </p:nvSpPr>
        <p:spPr>
          <a:xfrm>
            <a:off x="8641080" y="4700016"/>
            <a:ext cx="3108960" cy="329184"/>
          </a:xfrm>
          <a:prstGeom prst="rect">
            <a:avLst/>
          </a:prstGeom>
          <a:solidFill>
            <a:srgbClr val="F0F4F8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56" name="Text 54"/>
          <p:cNvSpPr/>
          <p:nvPr/>
        </p:nvSpPr>
        <p:spPr>
          <a:xfrm>
            <a:off x="8732520" y="4718304"/>
            <a:ext cx="19202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0A1628"/>
                </a:solidFill>
              </a:rPr>
              <a:t>Tables</a:t>
            </a:r>
            <a:endParaRPr lang="en-US" sz="850" dirty="0"/>
          </a:p>
        </p:txBody>
      </p:sp>
      <p:sp>
        <p:nvSpPr>
          <p:cNvPr id="57" name="Text 55"/>
          <p:cNvSpPr/>
          <p:nvPr/>
        </p:nvSpPr>
        <p:spPr>
          <a:xfrm>
            <a:off x="10652760" y="4718304"/>
            <a:ext cx="9144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50" b="1" dirty="0">
                <a:solidFill>
                  <a:srgbClr val="6366F1"/>
                </a:solidFill>
              </a:rPr>
              <a:t>2×4 = 8</a:t>
            </a:r>
            <a:endParaRPr lang="en-US" sz="850" dirty="0"/>
          </a:p>
        </p:txBody>
      </p:sp>
      <p:sp>
        <p:nvSpPr>
          <p:cNvPr id="58" name="Shape 56"/>
          <p:cNvSpPr/>
          <p:nvPr/>
        </p:nvSpPr>
        <p:spPr>
          <a:xfrm>
            <a:off x="8641080" y="5084064"/>
            <a:ext cx="3108960" cy="329184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59" name="Text 57"/>
          <p:cNvSpPr/>
          <p:nvPr/>
        </p:nvSpPr>
        <p:spPr>
          <a:xfrm>
            <a:off x="8732520" y="5102352"/>
            <a:ext cx="19202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0A1628"/>
                </a:solidFill>
              </a:rPr>
              <a:t>Treemap</a:t>
            </a:r>
            <a:endParaRPr lang="en-US" sz="850" dirty="0"/>
          </a:p>
        </p:txBody>
      </p:sp>
      <p:sp>
        <p:nvSpPr>
          <p:cNvPr id="60" name="Text 58"/>
          <p:cNvSpPr/>
          <p:nvPr/>
        </p:nvSpPr>
        <p:spPr>
          <a:xfrm>
            <a:off x="10652760" y="5102352"/>
            <a:ext cx="9144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50" b="1" dirty="0">
                <a:solidFill>
                  <a:srgbClr val="14B8A6"/>
                </a:solidFill>
              </a:rPr>
              <a:t>1×4 = 4</a:t>
            </a:r>
            <a:endParaRPr lang="en-US" sz="850" dirty="0"/>
          </a:p>
        </p:txBody>
      </p:sp>
      <p:sp>
        <p:nvSpPr>
          <p:cNvPr id="61" name="Shape 59"/>
          <p:cNvSpPr/>
          <p:nvPr/>
        </p:nvSpPr>
        <p:spPr>
          <a:xfrm>
            <a:off x="8641080" y="5468112"/>
            <a:ext cx="3108960" cy="329184"/>
          </a:xfrm>
          <a:prstGeom prst="rect">
            <a:avLst/>
          </a:prstGeom>
          <a:solidFill>
            <a:srgbClr val="0A1628"/>
          </a:solidFill>
          <a:ln w="19050">
            <a:solidFill>
              <a:srgbClr val="FFD700"/>
            </a:solidFill>
            <a:prstDash val="solid"/>
          </a:ln>
        </p:spPr>
      </p:sp>
      <p:sp>
        <p:nvSpPr>
          <p:cNvPr id="62" name="Text 60"/>
          <p:cNvSpPr/>
          <p:nvPr/>
        </p:nvSpPr>
        <p:spPr>
          <a:xfrm>
            <a:off x="8732520" y="5486400"/>
            <a:ext cx="19202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b="1" dirty="0">
                <a:solidFill>
                  <a:srgbClr val="FFFFFF"/>
                </a:solidFill>
              </a:rPr>
              <a:t>TOTAL</a:t>
            </a:r>
            <a:endParaRPr lang="en-US" sz="850" dirty="0"/>
          </a:p>
        </p:txBody>
      </p:sp>
      <p:sp>
        <p:nvSpPr>
          <p:cNvPr id="63" name="Text 61"/>
          <p:cNvSpPr/>
          <p:nvPr/>
        </p:nvSpPr>
        <p:spPr>
          <a:xfrm>
            <a:off x="10652760" y="5486400"/>
            <a:ext cx="9144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50" b="1" dirty="0">
                <a:solidFill>
                  <a:srgbClr val="FFD700"/>
                </a:solidFill>
              </a:rPr>
              <a:t>228 ✅</a:t>
            </a:r>
            <a:endParaRPr lang="en-US" sz="85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F8FA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61520" cy="987552"/>
          </a:xfrm>
          <a:prstGeom prst="rect">
            <a:avLst/>
          </a:prstGeom>
          <a:solidFill>
            <a:srgbClr val="0A1628"/>
          </a:solidFill>
          <a:ln w="12700">
            <a:solidFill>
              <a:srgbClr val="0A1628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987552"/>
            <a:ext cx="12161520" cy="54864"/>
          </a:xfrm>
          <a:prstGeom prst="rect">
            <a:avLst/>
          </a:prstGeom>
          <a:solidFill>
            <a:srgbClr val="FFD700"/>
          </a:solidFill>
          <a:ln w="12700">
            <a:solidFill>
              <a:srgbClr val="FFD700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365760" y="64008"/>
            <a:ext cx="1143000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Key Business Insights</a:t>
            </a:r>
            <a:endParaRPr lang="en-US" sz="2100" dirty="0"/>
          </a:p>
        </p:txBody>
      </p:sp>
      <p:sp>
        <p:nvSpPr>
          <p:cNvPr id="5" name="Text 3"/>
          <p:cNvSpPr/>
          <p:nvPr/>
        </p:nvSpPr>
        <p:spPr>
          <a:xfrm>
            <a:off x="365760" y="566928"/>
            <a:ext cx="11430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94A3B8"/>
                </a:solidFill>
              </a:rPr>
              <a:t>Critical findings from the HR Attrition analysis</a:t>
            </a:r>
            <a:endParaRPr lang="en-US" sz="1050" dirty="0"/>
          </a:p>
        </p:txBody>
      </p:sp>
      <p:sp>
        <p:nvSpPr>
          <p:cNvPr id="6" name="Shape 4"/>
          <p:cNvSpPr/>
          <p:nvPr/>
        </p:nvSpPr>
        <p:spPr>
          <a:xfrm>
            <a:off x="0" y="6601968"/>
            <a:ext cx="12161520" cy="256032"/>
          </a:xfrm>
          <a:prstGeom prst="rect">
            <a:avLst/>
          </a:prstGeom>
          <a:solidFill>
            <a:srgbClr val="0A1628"/>
          </a:solidFill>
          <a:ln w="12700">
            <a:solidFill>
              <a:srgbClr val="0A1628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365760" y="6620256"/>
            <a:ext cx="114300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50" dirty="0">
                <a:solidFill>
                  <a:srgbClr val="94A3B8"/>
                </a:solidFill>
              </a:rPr>
              <a:t>HR Attrition Analysis  •  Rohan Kumar  •  6-Day Project  •  2024</a:t>
            </a:r>
            <a:endParaRPr lang="en-US" sz="750" dirty="0"/>
          </a:p>
        </p:txBody>
      </p:sp>
      <p:graphicFrame>
        <p:nvGraphicFramePr>
          <p:cNvPr id="8" name="Chart 0" descr=""/>
          <p:cNvGraphicFramePr/>
          <p:nvPr/>
        </p:nvGraphicFramePr>
        <p:xfrm>
          <a:off x="320040" y="1170432"/>
          <a:ext cx="5394960" cy="2606040"/>
        </p:xfrm>
        <a:graphic xmlns:a="http://schemas.openxmlformats.org/drawingml/2006/main">
          <a:graphicData uri="http://schemas.openxmlformats.org/drawingml/2006/chart">
            <c:chart xmlns:c="http://schemas.openxmlformats.org/drawingml/2006/chart" r:id="rId1"/>
          </a:graphicData>
        </a:graphic>
      </p:graphicFrame>
      <p:graphicFrame>
        <p:nvGraphicFramePr>
          <p:cNvPr id="9" name="Chart 1" descr=""/>
          <p:cNvGraphicFramePr/>
          <p:nvPr/>
        </p:nvGraphicFramePr>
        <p:xfrm>
          <a:off x="320040" y="3913632"/>
          <a:ext cx="5394960" cy="2148840"/>
        </p:xfrm>
        <a:graphic xmlns:a="http://schemas.openxmlformats.org/drawingml/2006/main">
          <a:graphicData uri="http://schemas.openxmlformats.org/drawingml/2006/chart">
            <c:chart xmlns:c="http://schemas.openxmlformats.org/drawingml/2006/chart" r:id="rId2"/>
          </a:graphicData>
        </a:graphic>
      </p:graphicFrame>
      <p:sp>
        <p:nvSpPr>
          <p:cNvPr id="10" name="Shape 6"/>
          <p:cNvSpPr/>
          <p:nvPr/>
        </p:nvSpPr>
        <p:spPr>
          <a:xfrm>
            <a:off x="5989320" y="1170432"/>
            <a:ext cx="5852160" cy="914400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sx="100000" sy="100000" kx="0" ky="0" algn="bl" rotWithShape="0" blurRad="88900" dist="38100" dir="8100000">
              <a:srgbClr val="000000">
                <a:alpha val="18000"/>
              </a:srgbClr>
            </a:outerShdw>
          </a:effectLst>
        </p:spPr>
      </p:sp>
      <p:sp>
        <p:nvSpPr>
          <p:cNvPr id="11" name="Shape 7"/>
          <p:cNvSpPr/>
          <p:nvPr/>
        </p:nvSpPr>
        <p:spPr>
          <a:xfrm>
            <a:off x="5989320" y="1170432"/>
            <a:ext cx="109728" cy="914400"/>
          </a:xfrm>
          <a:prstGeom prst="rect">
            <a:avLst/>
          </a:prstGeom>
          <a:solidFill>
            <a:srgbClr val="EF4444"/>
          </a:solidFill>
          <a:ln w="12700">
            <a:solidFill>
              <a:srgbClr val="EF4444"/>
            </a:solidFill>
            <a:prstDash val="solid"/>
          </a:ln>
        </p:spPr>
      </p:sp>
      <p:sp>
        <p:nvSpPr>
          <p:cNvPr id="12" name="Text 8"/>
          <p:cNvSpPr/>
          <p:nvPr/>
        </p:nvSpPr>
        <p:spPr>
          <a:xfrm>
            <a:off x="6199632" y="1243584"/>
            <a:ext cx="553212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b="1" dirty="0">
                <a:solidFill>
                  <a:srgbClr val="0A1628"/>
                </a:solidFill>
              </a:rPr>
              <a:t>R&amp;D Has Highest Attrition</a:t>
            </a:r>
            <a:endParaRPr lang="en-US" sz="1150" dirty="0"/>
          </a:p>
        </p:txBody>
      </p:sp>
      <p:sp>
        <p:nvSpPr>
          <p:cNvPr id="13" name="Text 9"/>
          <p:cNvSpPr/>
          <p:nvPr/>
        </p:nvSpPr>
        <p:spPr>
          <a:xfrm>
            <a:off x="6199632" y="1545336"/>
            <a:ext cx="553212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475569"/>
                </a:solidFill>
              </a:rPr>
              <a:t>133 employees left from R&amp;D — largest department also has highest loss</a:t>
            </a:r>
            <a:endParaRPr lang="en-US" sz="950" dirty="0"/>
          </a:p>
        </p:txBody>
      </p:sp>
      <p:sp>
        <p:nvSpPr>
          <p:cNvPr id="14" name="Shape 10"/>
          <p:cNvSpPr/>
          <p:nvPr/>
        </p:nvSpPr>
        <p:spPr>
          <a:xfrm>
            <a:off x="5989320" y="2231136"/>
            <a:ext cx="5852160" cy="914400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sx="100000" sy="100000" kx="0" ky="0" algn="bl" rotWithShape="0" blurRad="88900" dist="38100" dir="8100000">
              <a:srgbClr val="000000">
                <a:alpha val="18000"/>
              </a:srgbClr>
            </a:outerShdw>
          </a:effectLst>
        </p:spPr>
      </p:sp>
      <p:sp>
        <p:nvSpPr>
          <p:cNvPr id="15" name="Shape 11"/>
          <p:cNvSpPr/>
          <p:nvPr/>
        </p:nvSpPr>
        <p:spPr>
          <a:xfrm>
            <a:off x="5989320" y="2231136"/>
            <a:ext cx="109728" cy="914400"/>
          </a:xfrm>
          <a:prstGeom prst="rect">
            <a:avLst/>
          </a:prstGeom>
          <a:solidFill>
            <a:srgbClr val="F59E0B"/>
          </a:solidFill>
          <a:ln w="12700">
            <a:solidFill>
              <a:srgbClr val="F59E0B"/>
            </a:solidFill>
            <a:prstDash val="solid"/>
          </a:ln>
        </p:spPr>
      </p:sp>
      <p:sp>
        <p:nvSpPr>
          <p:cNvPr id="16" name="Text 12"/>
          <p:cNvSpPr/>
          <p:nvPr/>
        </p:nvSpPr>
        <p:spPr>
          <a:xfrm>
            <a:off x="6199632" y="2304288"/>
            <a:ext cx="553212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b="1" dirty="0">
                <a:solidFill>
                  <a:srgbClr val="0A1628"/>
                </a:solidFill>
              </a:rPr>
              <a:t>Overtime = Major Risk Factor</a:t>
            </a:r>
            <a:endParaRPr lang="en-US" sz="1150" dirty="0"/>
          </a:p>
        </p:txBody>
      </p:sp>
      <p:sp>
        <p:nvSpPr>
          <p:cNvPr id="17" name="Text 13"/>
          <p:cNvSpPr/>
          <p:nvPr/>
        </p:nvSpPr>
        <p:spPr>
          <a:xfrm>
            <a:off x="6199632" y="2606040"/>
            <a:ext cx="553212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475569"/>
                </a:solidFill>
              </a:rPr>
              <a:t>127 out of 237 attrition cases worked overtime — 53.6% of all leavers</a:t>
            </a:r>
            <a:endParaRPr lang="en-US" sz="950" dirty="0"/>
          </a:p>
        </p:txBody>
      </p:sp>
      <p:sp>
        <p:nvSpPr>
          <p:cNvPr id="18" name="Shape 14"/>
          <p:cNvSpPr/>
          <p:nvPr/>
        </p:nvSpPr>
        <p:spPr>
          <a:xfrm>
            <a:off x="5989320" y="3291840"/>
            <a:ext cx="5852160" cy="914400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sx="100000" sy="100000" kx="0" ky="0" algn="bl" rotWithShape="0" blurRad="88900" dist="38100" dir="8100000">
              <a:srgbClr val="000000">
                <a:alpha val="18000"/>
              </a:srgbClr>
            </a:outerShdw>
          </a:effectLst>
        </p:spPr>
      </p:sp>
      <p:sp>
        <p:nvSpPr>
          <p:cNvPr id="19" name="Shape 15"/>
          <p:cNvSpPr/>
          <p:nvPr/>
        </p:nvSpPr>
        <p:spPr>
          <a:xfrm>
            <a:off x="5989320" y="3291840"/>
            <a:ext cx="109728" cy="914400"/>
          </a:xfrm>
          <a:prstGeom prst="rect">
            <a:avLst/>
          </a:prstGeom>
          <a:solidFill>
            <a:srgbClr val="FFD700"/>
          </a:solidFill>
          <a:ln w="12700">
            <a:solidFill>
              <a:srgbClr val="FFD700"/>
            </a:solidFill>
            <a:prstDash val="solid"/>
          </a:ln>
        </p:spPr>
      </p:sp>
      <p:sp>
        <p:nvSpPr>
          <p:cNvPr id="20" name="Text 16"/>
          <p:cNvSpPr/>
          <p:nvPr/>
        </p:nvSpPr>
        <p:spPr>
          <a:xfrm>
            <a:off x="6199632" y="3364992"/>
            <a:ext cx="553212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b="1" dirty="0">
                <a:solidFill>
                  <a:srgbClr val="0A1628"/>
                </a:solidFill>
              </a:rPr>
              <a:t>Low Salary Drives Attrition</a:t>
            </a:r>
            <a:endParaRPr lang="en-US" sz="1150" dirty="0"/>
          </a:p>
        </p:txBody>
      </p:sp>
      <p:sp>
        <p:nvSpPr>
          <p:cNvPr id="21" name="Text 17"/>
          <p:cNvSpPr/>
          <p:nvPr/>
        </p:nvSpPr>
        <p:spPr>
          <a:xfrm>
            <a:off x="6199632" y="3666744"/>
            <a:ext cx="553212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475569"/>
                </a:solidFill>
              </a:rPr>
              <a:t>Employees earning below $3,000/month have significantly higher attrition rate</a:t>
            </a:r>
            <a:endParaRPr lang="en-US" sz="950" dirty="0"/>
          </a:p>
        </p:txBody>
      </p:sp>
      <p:sp>
        <p:nvSpPr>
          <p:cNvPr id="22" name="Shape 18"/>
          <p:cNvSpPr/>
          <p:nvPr/>
        </p:nvSpPr>
        <p:spPr>
          <a:xfrm>
            <a:off x="5989320" y="4352544"/>
            <a:ext cx="5852160" cy="914400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sx="100000" sy="100000" kx="0" ky="0" algn="bl" rotWithShape="0" blurRad="88900" dist="38100" dir="8100000">
              <a:srgbClr val="000000">
                <a:alpha val="18000"/>
              </a:srgbClr>
            </a:outerShdw>
          </a:effectLst>
        </p:spPr>
      </p:sp>
      <p:sp>
        <p:nvSpPr>
          <p:cNvPr id="23" name="Shape 19"/>
          <p:cNvSpPr/>
          <p:nvPr/>
        </p:nvSpPr>
        <p:spPr>
          <a:xfrm>
            <a:off x="5989320" y="4352544"/>
            <a:ext cx="109728" cy="914400"/>
          </a:xfrm>
          <a:prstGeom prst="rect">
            <a:avLst/>
          </a:prstGeom>
          <a:solidFill>
            <a:srgbClr val="8B5CF6"/>
          </a:solidFill>
          <a:ln w="12700">
            <a:solidFill>
              <a:srgbClr val="8B5CF6"/>
            </a:solidFill>
            <a:prstDash val="solid"/>
          </a:ln>
        </p:spPr>
      </p:sp>
      <p:sp>
        <p:nvSpPr>
          <p:cNvPr id="24" name="Text 20"/>
          <p:cNvSpPr/>
          <p:nvPr/>
        </p:nvSpPr>
        <p:spPr>
          <a:xfrm>
            <a:off x="6199632" y="4425696"/>
            <a:ext cx="553212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b="1" dirty="0">
                <a:solidFill>
                  <a:srgbClr val="0A1628"/>
                </a:solidFill>
              </a:rPr>
              <a:t>Job Satisfaction is Critical</a:t>
            </a:r>
            <a:endParaRPr lang="en-US" sz="1150" dirty="0"/>
          </a:p>
        </p:txBody>
      </p:sp>
      <p:sp>
        <p:nvSpPr>
          <p:cNvPr id="25" name="Text 21"/>
          <p:cNvSpPr/>
          <p:nvPr/>
        </p:nvSpPr>
        <p:spPr>
          <a:xfrm>
            <a:off x="6199632" y="4727448"/>
            <a:ext cx="553212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475569"/>
                </a:solidFill>
              </a:rPr>
              <a:t>Employees with JobSatisfaction ≤ 2 are classified as High or Medium risk</a:t>
            </a:r>
            <a:endParaRPr lang="en-US" sz="950" dirty="0"/>
          </a:p>
        </p:txBody>
      </p:sp>
      <p:sp>
        <p:nvSpPr>
          <p:cNvPr id="26" name="Shape 22"/>
          <p:cNvSpPr/>
          <p:nvPr/>
        </p:nvSpPr>
        <p:spPr>
          <a:xfrm>
            <a:off x="5989320" y="5413248"/>
            <a:ext cx="5852160" cy="914400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sx="100000" sy="100000" kx="0" ky="0" algn="bl" rotWithShape="0" blurRad="88900" dist="38100" dir="8100000">
              <a:srgbClr val="000000">
                <a:alpha val="18000"/>
              </a:srgbClr>
            </a:outerShdw>
          </a:effectLst>
        </p:spPr>
      </p:sp>
      <p:sp>
        <p:nvSpPr>
          <p:cNvPr id="27" name="Shape 23"/>
          <p:cNvSpPr/>
          <p:nvPr/>
        </p:nvSpPr>
        <p:spPr>
          <a:xfrm>
            <a:off x="5989320" y="5413248"/>
            <a:ext cx="109728" cy="914400"/>
          </a:xfrm>
          <a:prstGeom prst="rect">
            <a:avLst/>
          </a:prstGeom>
          <a:solidFill>
            <a:srgbClr val="22C55E"/>
          </a:solidFill>
          <a:ln w="12700">
            <a:solidFill>
              <a:srgbClr val="22C55E"/>
            </a:solidFill>
            <a:prstDash val="solid"/>
          </a:ln>
        </p:spPr>
      </p:sp>
      <p:sp>
        <p:nvSpPr>
          <p:cNvPr id="28" name="Text 24"/>
          <p:cNvSpPr/>
          <p:nvPr/>
        </p:nvSpPr>
        <p:spPr>
          <a:xfrm>
            <a:off x="6199632" y="5486400"/>
            <a:ext cx="553212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b="1" dirty="0">
                <a:solidFill>
                  <a:srgbClr val="0A1628"/>
                </a:solidFill>
              </a:rPr>
              <a:t>153 High Risk Employees Now</a:t>
            </a:r>
            <a:endParaRPr lang="en-US" sz="1150" dirty="0"/>
          </a:p>
        </p:txBody>
      </p:sp>
      <p:sp>
        <p:nvSpPr>
          <p:cNvPr id="29" name="Text 25"/>
          <p:cNvSpPr/>
          <p:nvPr/>
        </p:nvSpPr>
        <p:spPr>
          <a:xfrm>
            <a:off x="6199632" y="5788152"/>
            <a:ext cx="553212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475569"/>
                </a:solidFill>
              </a:rPr>
              <a:t>These employees need immediate HR intervention to prevent further attrition</a:t>
            </a:r>
            <a:endParaRPr lang="en-US" sz="95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F8FA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61520" cy="987552"/>
          </a:xfrm>
          <a:prstGeom prst="rect">
            <a:avLst/>
          </a:prstGeom>
          <a:solidFill>
            <a:srgbClr val="0A1628"/>
          </a:solidFill>
          <a:ln w="12700">
            <a:solidFill>
              <a:srgbClr val="0A1628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987552"/>
            <a:ext cx="12161520" cy="54864"/>
          </a:xfrm>
          <a:prstGeom prst="rect">
            <a:avLst/>
          </a:prstGeom>
          <a:solidFill>
            <a:srgbClr val="FFD700"/>
          </a:solidFill>
          <a:ln w="12700">
            <a:solidFill>
              <a:srgbClr val="FFD700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365760" y="64008"/>
            <a:ext cx="1143000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Skills &amp; Technologies Used</a:t>
            </a:r>
            <a:endParaRPr lang="en-US" sz="2100" dirty="0"/>
          </a:p>
        </p:txBody>
      </p:sp>
      <p:sp>
        <p:nvSpPr>
          <p:cNvPr id="5" name="Text 3"/>
          <p:cNvSpPr/>
          <p:nvPr/>
        </p:nvSpPr>
        <p:spPr>
          <a:xfrm>
            <a:off x="365760" y="566928"/>
            <a:ext cx="11430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94A3B8"/>
                </a:solidFill>
              </a:rPr>
              <a:t>Technical skills demonstrated in this 6-day project</a:t>
            </a:r>
            <a:endParaRPr lang="en-US" sz="1050" dirty="0"/>
          </a:p>
        </p:txBody>
      </p:sp>
      <p:sp>
        <p:nvSpPr>
          <p:cNvPr id="6" name="Shape 4"/>
          <p:cNvSpPr/>
          <p:nvPr/>
        </p:nvSpPr>
        <p:spPr>
          <a:xfrm>
            <a:off x="0" y="6601968"/>
            <a:ext cx="12161520" cy="256032"/>
          </a:xfrm>
          <a:prstGeom prst="rect">
            <a:avLst/>
          </a:prstGeom>
          <a:solidFill>
            <a:srgbClr val="0A1628"/>
          </a:solidFill>
          <a:ln w="12700">
            <a:solidFill>
              <a:srgbClr val="0A1628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365760" y="6620256"/>
            <a:ext cx="114300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50" dirty="0">
                <a:solidFill>
                  <a:srgbClr val="94A3B8"/>
                </a:solidFill>
              </a:rPr>
              <a:t>HR Attrition Analysis  •  Rohan Kumar  •  6-Day Project  •  2024</a:t>
            </a:r>
            <a:endParaRPr lang="en-US" sz="750" dirty="0"/>
          </a:p>
        </p:txBody>
      </p:sp>
      <p:sp>
        <p:nvSpPr>
          <p:cNvPr id="8" name="Shape 6"/>
          <p:cNvSpPr/>
          <p:nvPr/>
        </p:nvSpPr>
        <p:spPr>
          <a:xfrm>
            <a:off x="320040" y="1170432"/>
            <a:ext cx="5577840" cy="2487168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sx="100000" sy="100000" kx="0" ky="0" algn="bl" rotWithShape="0" blurRad="88900" dist="38100" dir="8100000">
              <a:srgbClr val="000000">
                <a:alpha val="18000"/>
              </a:srgbClr>
            </a:outerShdw>
          </a:effectLst>
        </p:spPr>
      </p:sp>
      <p:sp>
        <p:nvSpPr>
          <p:cNvPr id="9" name="Shape 7"/>
          <p:cNvSpPr/>
          <p:nvPr/>
        </p:nvSpPr>
        <p:spPr>
          <a:xfrm>
            <a:off x="320040" y="1170432"/>
            <a:ext cx="5577840" cy="365760"/>
          </a:xfrm>
          <a:prstGeom prst="rect">
            <a:avLst/>
          </a:prstGeom>
          <a:solidFill>
            <a:srgbClr val="1D6F42"/>
          </a:solidFill>
          <a:ln w="12700">
            <a:solidFill>
              <a:srgbClr val="1D6F42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429768" y="1170432"/>
            <a:ext cx="53949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FFFFFF"/>
                </a:solidFill>
              </a:rPr>
              <a:t>Microsoft Excel</a:t>
            </a:r>
            <a:endParaRPr lang="en-US" sz="1200" dirty="0"/>
          </a:p>
        </p:txBody>
      </p:sp>
      <p:sp>
        <p:nvSpPr>
          <p:cNvPr id="11" name="Shape 9"/>
          <p:cNvSpPr/>
          <p:nvPr/>
        </p:nvSpPr>
        <p:spPr>
          <a:xfrm>
            <a:off x="521208" y="1700784"/>
            <a:ext cx="128016" cy="128016"/>
          </a:xfrm>
          <a:prstGeom prst="ellipse">
            <a:avLst/>
          </a:prstGeom>
          <a:solidFill>
            <a:srgbClr val="1D6F42"/>
          </a:solidFill>
          <a:ln w="12700">
            <a:solidFill>
              <a:srgbClr val="1D6F42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740664" y="1645920"/>
            <a:ext cx="502920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1E293B"/>
                </a:solidFill>
              </a:rPr>
              <a:t>Data Cleaning &amp; Validation</a:t>
            </a:r>
            <a:endParaRPr lang="en-US" sz="950" dirty="0"/>
          </a:p>
        </p:txBody>
      </p:sp>
      <p:sp>
        <p:nvSpPr>
          <p:cNvPr id="13" name="Shape 11"/>
          <p:cNvSpPr/>
          <p:nvPr/>
        </p:nvSpPr>
        <p:spPr>
          <a:xfrm>
            <a:off x="521208" y="2084832"/>
            <a:ext cx="128016" cy="128016"/>
          </a:xfrm>
          <a:prstGeom prst="ellipse">
            <a:avLst/>
          </a:prstGeom>
          <a:solidFill>
            <a:srgbClr val="1D6F42"/>
          </a:solidFill>
          <a:ln w="12700">
            <a:solidFill>
              <a:srgbClr val="1D6F42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740664" y="2029968"/>
            <a:ext cx="502920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1E293B"/>
                </a:solidFill>
              </a:rPr>
              <a:t>Derived Columns (IF, VLOOKUP)</a:t>
            </a:r>
            <a:endParaRPr lang="en-US" sz="950" dirty="0"/>
          </a:p>
        </p:txBody>
      </p:sp>
      <p:sp>
        <p:nvSpPr>
          <p:cNvPr id="15" name="Shape 13"/>
          <p:cNvSpPr/>
          <p:nvPr/>
        </p:nvSpPr>
        <p:spPr>
          <a:xfrm>
            <a:off x="521208" y="2468880"/>
            <a:ext cx="128016" cy="128016"/>
          </a:xfrm>
          <a:prstGeom prst="ellipse">
            <a:avLst/>
          </a:prstGeom>
          <a:solidFill>
            <a:srgbClr val="1D6F42"/>
          </a:solidFill>
          <a:ln w="12700">
            <a:solidFill>
              <a:srgbClr val="1D6F42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740664" y="2414016"/>
            <a:ext cx="502920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1E293B"/>
                </a:solidFill>
              </a:rPr>
              <a:t>4 Pivot Tables &amp; Charts</a:t>
            </a:r>
            <a:endParaRPr lang="en-US" sz="950" dirty="0"/>
          </a:p>
        </p:txBody>
      </p:sp>
      <p:sp>
        <p:nvSpPr>
          <p:cNvPr id="17" name="Shape 15"/>
          <p:cNvSpPr/>
          <p:nvPr/>
        </p:nvSpPr>
        <p:spPr>
          <a:xfrm>
            <a:off x="521208" y="2852928"/>
            <a:ext cx="128016" cy="128016"/>
          </a:xfrm>
          <a:prstGeom prst="ellipse">
            <a:avLst/>
          </a:prstGeom>
          <a:solidFill>
            <a:srgbClr val="1D6F42"/>
          </a:solidFill>
          <a:ln w="12700">
            <a:solidFill>
              <a:srgbClr val="1D6F42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740664" y="2798064"/>
            <a:ext cx="502920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1E293B"/>
                </a:solidFill>
              </a:rPr>
              <a:t>Dashboard Design</a:t>
            </a:r>
            <a:endParaRPr lang="en-US" sz="950" dirty="0"/>
          </a:p>
        </p:txBody>
      </p:sp>
      <p:sp>
        <p:nvSpPr>
          <p:cNvPr id="19" name="Shape 17"/>
          <p:cNvSpPr/>
          <p:nvPr/>
        </p:nvSpPr>
        <p:spPr>
          <a:xfrm>
            <a:off x="521208" y="3236976"/>
            <a:ext cx="128016" cy="128016"/>
          </a:xfrm>
          <a:prstGeom prst="ellipse">
            <a:avLst/>
          </a:prstGeom>
          <a:solidFill>
            <a:srgbClr val="1D6F42"/>
          </a:solidFill>
          <a:ln w="12700">
            <a:solidFill>
              <a:srgbClr val="1D6F42"/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740664" y="3182112"/>
            <a:ext cx="502920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1E293B"/>
                </a:solidFill>
              </a:rPr>
              <a:t>Lookup Tables</a:t>
            </a:r>
            <a:endParaRPr lang="en-US" sz="950" dirty="0"/>
          </a:p>
        </p:txBody>
      </p:sp>
      <p:sp>
        <p:nvSpPr>
          <p:cNvPr id="21" name="Shape 19"/>
          <p:cNvSpPr/>
          <p:nvPr/>
        </p:nvSpPr>
        <p:spPr>
          <a:xfrm>
            <a:off x="6309360" y="1170432"/>
            <a:ext cx="5577840" cy="2487168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sx="100000" sy="100000" kx="0" ky="0" algn="bl" rotWithShape="0" blurRad="88900" dist="38100" dir="8100000">
              <a:srgbClr val="000000">
                <a:alpha val="18000"/>
              </a:srgbClr>
            </a:outerShdw>
          </a:effectLst>
        </p:spPr>
      </p:sp>
      <p:sp>
        <p:nvSpPr>
          <p:cNvPr id="22" name="Shape 20"/>
          <p:cNvSpPr/>
          <p:nvPr/>
        </p:nvSpPr>
        <p:spPr>
          <a:xfrm>
            <a:off x="6309360" y="1170432"/>
            <a:ext cx="5577840" cy="365760"/>
          </a:xfrm>
          <a:prstGeom prst="rect">
            <a:avLst/>
          </a:prstGeom>
          <a:solidFill>
            <a:srgbClr val="E67E22"/>
          </a:solidFill>
          <a:ln w="12700">
            <a:solidFill>
              <a:srgbClr val="E67E22"/>
            </a:solidFill>
            <a:prstDash val="solid"/>
          </a:ln>
        </p:spPr>
      </p:sp>
      <p:sp>
        <p:nvSpPr>
          <p:cNvPr id="23" name="Text 21"/>
          <p:cNvSpPr/>
          <p:nvPr/>
        </p:nvSpPr>
        <p:spPr>
          <a:xfrm>
            <a:off x="6419088" y="1170432"/>
            <a:ext cx="53949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FFFFFF"/>
                </a:solidFill>
              </a:rPr>
              <a:t>MySQL SQL</a:t>
            </a:r>
            <a:endParaRPr lang="en-US" sz="1200" dirty="0"/>
          </a:p>
        </p:txBody>
      </p:sp>
      <p:sp>
        <p:nvSpPr>
          <p:cNvPr id="24" name="Shape 22"/>
          <p:cNvSpPr/>
          <p:nvPr/>
        </p:nvSpPr>
        <p:spPr>
          <a:xfrm>
            <a:off x="6510528" y="1700784"/>
            <a:ext cx="128016" cy="128016"/>
          </a:xfrm>
          <a:prstGeom prst="ellipse">
            <a:avLst/>
          </a:prstGeom>
          <a:solidFill>
            <a:srgbClr val="E67E22"/>
          </a:solidFill>
          <a:ln w="12700">
            <a:solidFill>
              <a:srgbClr val="E67E22"/>
            </a:solidFill>
            <a:prstDash val="solid"/>
          </a:ln>
        </p:spPr>
      </p:sp>
      <p:sp>
        <p:nvSpPr>
          <p:cNvPr id="25" name="Text 23"/>
          <p:cNvSpPr/>
          <p:nvPr/>
        </p:nvSpPr>
        <p:spPr>
          <a:xfrm>
            <a:off x="6729984" y="1645920"/>
            <a:ext cx="502920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1E293B"/>
                </a:solidFill>
              </a:rPr>
              <a:t>18 Queries — Basic to CTE</a:t>
            </a:r>
            <a:endParaRPr lang="en-US" sz="950" dirty="0"/>
          </a:p>
        </p:txBody>
      </p:sp>
      <p:sp>
        <p:nvSpPr>
          <p:cNvPr id="26" name="Shape 24"/>
          <p:cNvSpPr/>
          <p:nvPr/>
        </p:nvSpPr>
        <p:spPr>
          <a:xfrm>
            <a:off x="6510528" y="2084832"/>
            <a:ext cx="128016" cy="128016"/>
          </a:xfrm>
          <a:prstGeom prst="ellipse">
            <a:avLst/>
          </a:prstGeom>
          <a:solidFill>
            <a:srgbClr val="E67E22"/>
          </a:solidFill>
          <a:ln w="12700">
            <a:solidFill>
              <a:srgbClr val="E67E22"/>
            </a:solidFill>
            <a:prstDash val="solid"/>
          </a:ln>
        </p:spPr>
      </p:sp>
      <p:sp>
        <p:nvSpPr>
          <p:cNvPr id="27" name="Text 25"/>
          <p:cNvSpPr/>
          <p:nvPr/>
        </p:nvSpPr>
        <p:spPr>
          <a:xfrm>
            <a:off x="6729984" y="2029968"/>
            <a:ext cx="502920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1E293B"/>
                </a:solidFill>
              </a:rPr>
              <a:t>GROUP BY, HAVING, CASE</a:t>
            </a:r>
            <a:endParaRPr lang="en-US" sz="950" dirty="0"/>
          </a:p>
        </p:txBody>
      </p:sp>
      <p:sp>
        <p:nvSpPr>
          <p:cNvPr id="28" name="Shape 26"/>
          <p:cNvSpPr/>
          <p:nvPr/>
        </p:nvSpPr>
        <p:spPr>
          <a:xfrm>
            <a:off x="6510528" y="2468880"/>
            <a:ext cx="128016" cy="128016"/>
          </a:xfrm>
          <a:prstGeom prst="ellipse">
            <a:avLst/>
          </a:prstGeom>
          <a:solidFill>
            <a:srgbClr val="E67E22"/>
          </a:solidFill>
          <a:ln w="12700">
            <a:solidFill>
              <a:srgbClr val="E67E22"/>
            </a:solidFill>
            <a:prstDash val="solid"/>
          </a:ln>
        </p:spPr>
      </p:sp>
      <p:sp>
        <p:nvSpPr>
          <p:cNvPr id="29" name="Text 27"/>
          <p:cNvSpPr/>
          <p:nvPr/>
        </p:nvSpPr>
        <p:spPr>
          <a:xfrm>
            <a:off x="6729984" y="2414016"/>
            <a:ext cx="502920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1E293B"/>
                </a:solidFill>
              </a:rPr>
              <a:t>Subqueries &amp; JOINs</a:t>
            </a:r>
            <a:endParaRPr lang="en-US" sz="950" dirty="0"/>
          </a:p>
        </p:txBody>
      </p:sp>
      <p:sp>
        <p:nvSpPr>
          <p:cNvPr id="30" name="Shape 28"/>
          <p:cNvSpPr/>
          <p:nvPr/>
        </p:nvSpPr>
        <p:spPr>
          <a:xfrm>
            <a:off x="6510528" y="2852928"/>
            <a:ext cx="128016" cy="128016"/>
          </a:xfrm>
          <a:prstGeom prst="ellipse">
            <a:avLst/>
          </a:prstGeom>
          <a:solidFill>
            <a:srgbClr val="E67E22"/>
          </a:solidFill>
          <a:ln w="12700">
            <a:solidFill>
              <a:srgbClr val="E67E22"/>
            </a:solidFill>
            <a:prstDash val="solid"/>
          </a:ln>
        </p:spPr>
      </p:sp>
      <p:sp>
        <p:nvSpPr>
          <p:cNvPr id="31" name="Text 29"/>
          <p:cNvSpPr/>
          <p:nvPr/>
        </p:nvSpPr>
        <p:spPr>
          <a:xfrm>
            <a:off x="6729984" y="2798064"/>
            <a:ext cx="502920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1E293B"/>
                </a:solidFill>
              </a:rPr>
              <a:t>CREATE VIEW</a:t>
            </a:r>
            <a:endParaRPr lang="en-US" sz="950" dirty="0"/>
          </a:p>
        </p:txBody>
      </p:sp>
      <p:sp>
        <p:nvSpPr>
          <p:cNvPr id="32" name="Shape 30"/>
          <p:cNvSpPr/>
          <p:nvPr/>
        </p:nvSpPr>
        <p:spPr>
          <a:xfrm>
            <a:off x="6510528" y="3236976"/>
            <a:ext cx="128016" cy="128016"/>
          </a:xfrm>
          <a:prstGeom prst="ellipse">
            <a:avLst/>
          </a:prstGeom>
          <a:solidFill>
            <a:srgbClr val="E67E22"/>
          </a:solidFill>
          <a:ln w="12700">
            <a:solidFill>
              <a:srgbClr val="E67E22"/>
            </a:solidFill>
            <a:prstDash val="solid"/>
          </a:ln>
        </p:spPr>
      </p:sp>
      <p:sp>
        <p:nvSpPr>
          <p:cNvPr id="33" name="Text 31"/>
          <p:cNvSpPr/>
          <p:nvPr/>
        </p:nvSpPr>
        <p:spPr>
          <a:xfrm>
            <a:off x="6729984" y="3182112"/>
            <a:ext cx="502920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1E293B"/>
                </a:solidFill>
              </a:rPr>
              <a:t>CTE &amp; Window Concepts</a:t>
            </a:r>
            <a:endParaRPr lang="en-US" sz="950" dirty="0"/>
          </a:p>
        </p:txBody>
      </p:sp>
      <p:sp>
        <p:nvSpPr>
          <p:cNvPr id="34" name="Shape 32"/>
          <p:cNvSpPr/>
          <p:nvPr/>
        </p:nvSpPr>
        <p:spPr>
          <a:xfrm>
            <a:off x="320040" y="3867912"/>
            <a:ext cx="5577840" cy="2487168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sx="100000" sy="100000" kx="0" ky="0" algn="bl" rotWithShape="0" blurRad="88900" dist="38100" dir="8100000">
              <a:srgbClr val="000000">
                <a:alpha val="18000"/>
              </a:srgbClr>
            </a:outerShdw>
          </a:effectLst>
        </p:spPr>
      </p:sp>
      <p:sp>
        <p:nvSpPr>
          <p:cNvPr id="35" name="Shape 33"/>
          <p:cNvSpPr/>
          <p:nvPr/>
        </p:nvSpPr>
        <p:spPr>
          <a:xfrm>
            <a:off x="320040" y="3867912"/>
            <a:ext cx="5577840" cy="365760"/>
          </a:xfrm>
          <a:prstGeom prst="rect">
            <a:avLst/>
          </a:prstGeom>
          <a:solidFill>
            <a:srgbClr val="B7950B"/>
          </a:solidFill>
          <a:ln w="12700">
            <a:solidFill>
              <a:srgbClr val="B7950B"/>
            </a:solidFill>
            <a:prstDash val="solid"/>
          </a:ln>
        </p:spPr>
      </p:sp>
      <p:sp>
        <p:nvSpPr>
          <p:cNvPr id="36" name="Text 34"/>
          <p:cNvSpPr/>
          <p:nvPr/>
        </p:nvSpPr>
        <p:spPr>
          <a:xfrm>
            <a:off x="429768" y="3867912"/>
            <a:ext cx="53949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FFFFFF"/>
                </a:solidFill>
              </a:rPr>
              <a:t>Microsoft Power BI</a:t>
            </a:r>
            <a:endParaRPr lang="en-US" sz="1200" dirty="0"/>
          </a:p>
        </p:txBody>
      </p:sp>
      <p:sp>
        <p:nvSpPr>
          <p:cNvPr id="37" name="Shape 35"/>
          <p:cNvSpPr/>
          <p:nvPr/>
        </p:nvSpPr>
        <p:spPr>
          <a:xfrm>
            <a:off x="521208" y="4398264"/>
            <a:ext cx="128016" cy="128016"/>
          </a:xfrm>
          <a:prstGeom prst="ellipse">
            <a:avLst/>
          </a:prstGeom>
          <a:solidFill>
            <a:srgbClr val="B7950B"/>
          </a:solidFill>
          <a:ln w="12700">
            <a:solidFill>
              <a:srgbClr val="B7950B"/>
            </a:solidFill>
            <a:prstDash val="solid"/>
          </a:ln>
        </p:spPr>
      </p:sp>
      <p:sp>
        <p:nvSpPr>
          <p:cNvPr id="38" name="Text 36"/>
          <p:cNvSpPr/>
          <p:nvPr/>
        </p:nvSpPr>
        <p:spPr>
          <a:xfrm>
            <a:off x="740664" y="4343400"/>
            <a:ext cx="502920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1E293B"/>
                </a:solidFill>
              </a:rPr>
              <a:t>11 DAX Measures</a:t>
            </a:r>
            <a:endParaRPr lang="en-US" sz="950" dirty="0"/>
          </a:p>
        </p:txBody>
      </p:sp>
      <p:sp>
        <p:nvSpPr>
          <p:cNvPr id="39" name="Shape 37"/>
          <p:cNvSpPr/>
          <p:nvPr/>
        </p:nvSpPr>
        <p:spPr>
          <a:xfrm>
            <a:off x="521208" y="4782312"/>
            <a:ext cx="128016" cy="128016"/>
          </a:xfrm>
          <a:prstGeom prst="ellipse">
            <a:avLst/>
          </a:prstGeom>
          <a:solidFill>
            <a:srgbClr val="B7950B"/>
          </a:solidFill>
          <a:ln w="12700">
            <a:solidFill>
              <a:srgbClr val="B7950B"/>
            </a:solidFill>
            <a:prstDash val="solid"/>
          </a:ln>
        </p:spPr>
      </p:sp>
      <p:sp>
        <p:nvSpPr>
          <p:cNvPr id="40" name="Text 38"/>
          <p:cNvSpPr/>
          <p:nvPr/>
        </p:nvSpPr>
        <p:spPr>
          <a:xfrm>
            <a:off x="740664" y="4727448"/>
            <a:ext cx="502920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1E293B"/>
                </a:solidFill>
              </a:rPr>
              <a:t>228 Visuals Built</a:t>
            </a:r>
            <a:endParaRPr lang="en-US" sz="950" dirty="0"/>
          </a:p>
        </p:txBody>
      </p:sp>
      <p:sp>
        <p:nvSpPr>
          <p:cNvPr id="41" name="Shape 39"/>
          <p:cNvSpPr/>
          <p:nvPr/>
        </p:nvSpPr>
        <p:spPr>
          <a:xfrm>
            <a:off x="521208" y="5166360"/>
            <a:ext cx="128016" cy="128016"/>
          </a:xfrm>
          <a:prstGeom prst="ellipse">
            <a:avLst/>
          </a:prstGeom>
          <a:solidFill>
            <a:srgbClr val="B7950B"/>
          </a:solidFill>
          <a:ln w="12700">
            <a:solidFill>
              <a:srgbClr val="B7950B"/>
            </a:solidFill>
            <a:prstDash val="solid"/>
          </a:ln>
        </p:spPr>
      </p:sp>
      <p:sp>
        <p:nvSpPr>
          <p:cNvPr id="42" name="Text 40"/>
          <p:cNvSpPr/>
          <p:nvPr/>
        </p:nvSpPr>
        <p:spPr>
          <a:xfrm>
            <a:off x="740664" y="5111496"/>
            <a:ext cx="502920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1E293B"/>
                </a:solidFill>
              </a:rPr>
              <a:t>4 Dashboards</a:t>
            </a:r>
            <a:endParaRPr lang="en-US" sz="950" dirty="0"/>
          </a:p>
        </p:txBody>
      </p:sp>
      <p:sp>
        <p:nvSpPr>
          <p:cNvPr id="43" name="Shape 41"/>
          <p:cNvSpPr/>
          <p:nvPr/>
        </p:nvSpPr>
        <p:spPr>
          <a:xfrm>
            <a:off x="521208" y="5550408"/>
            <a:ext cx="128016" cy="128016"/>
          </a:xfrm>
          <a:prstGeom prst="ellipse">
            <a:avLst/>
          </a:prstGeom>
          <a:solidFill>
            <a:srgbClr val="B7950B"/>
          </a:solidFill>
          <a:ln w="12700">
            <a:solidFill>
              <a:srgbClr val="B7950B"/>
            </a:solidFill>
            <a:prstDash val="solid"/>
          </a:ln>
        </p:spPr>
      </p:sp>
      <p:sp>
        <p:nvSpPr>
          <p:cNvPr id="44" name="Text 42"/>
          <p:cNvSpPr/>
          <p:nvPr/>
        </p:nvSpPr>
        <p:spPr>
          <a:xfrm>
            <a:off x="740664" y="5495544"/>
            <a:ext cx="502920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1E293B"/>
                </a:solidFill>
              </a:rPr>
              <a:t>Scatter &amp; Risk Maps</a:t>
            </a:r>
            <a:endParaRPr lang="en-US" sz="950" dirty="0"/>
          </a:p>
        </p:txBody>
      </p:sp>
      <p:sp>
        <p:nvSpPr>
          <p:cNvPr id="45" name="Shape 43"/>
          <p:cNvSpPr/>
          <p:nvPr/>
        </p:nvSpPr>
        <p:spPr>
          <a:xfrm>
            <a:off x="521208" y="5934456"/>
            <a:ext cx="128016" cy="128016"/>
          </a:xfrm>
          <a:prstGeom prst="ellipse">
            <a:avLst/>
          </a:prstGeom>
          <a:solidFill>
            <a:srgbClr val="B7950B"/>
          </a:solidFill>
          <a:ln w="12700">
            <a:solidFill>
              <a:srgbClr val="B7950B"/>
            </a:solidFill>
            <a:prstDash val="solid"/>
          </a:ln>
        </p:spPr>
      </p:sp>
      <p:sp>
        <p:nvSpPr>
          <p:cNvPr id="46" name="Text 44"/>
          <p:cNvSpPr/>
          <p:nvPr/>
        </p:nvSpPr>
        <p:spPr>
          <a:xfrm>
            <a:off x="740664" y="5879592"/>
            <a:ext cx="502920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1E293B"/>
                </a:solidFill>
              </a:rPr>
              <a:t>Dark Green Gold Theme</a:t>
            </a:r>
            <a:endParaRPr lang="en-US" sz="950" dirty="0"/>
          </a:p>
        </p:txBody>
      </p:sp>
      <p:sp>
        <p:nvSpPr>
          <p:cNvPr id="47" name="Shape 45"/>
          <p:cNvSpPr/>
          <p:nvPr/>
        </p:nvSpPr>
        <p:spPr>
          <a:xfrm>
            <a:off x="6309360" y="3867912"/>
            <a:ext cx="5577840" cy="2487168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sx="100000" sy="100000" kx="0" ky="0" algn="bl" rotWithShape="0" blurRad="88900" dist="38100" dir="8100000">
              <a:srgbClr val="000000">
                <a:alpha val="18000"/>
              </a:srgbClr>
            </a:outerShdw>
          </a:effectLst>
        </p:spPr>
      </p:sp>
      <p:sp>
        <p:nvSpPr>
          <p:cNvPr id="48" name="Shape 46"/>
          <p:cNvSpPr/>
          <p:nvPr/>
        </p:nvSpPr>
        <p:spPr>
          <a:xfrm>
            <a:off x="6309360" y="3867912"/>
            <a:ext cx="5577840" cy="365760"/>
          </a:xfrm>
          <a:prstGeom prst="rect">
            <a:avLst/>
          </a:prstGeom>
          <a:solidFill>
            <a:srgbClr val="1A472A"/>
          </a:solidFill>
          <a:ln w="12700">
            <a:solidFill>
              <a:srgbClr val="1A472A"/>
            </a:solidFill>
            <a:prstDash val="solid"/>
          </a:ln>
        </p:spPr>
      </p:sp>
      <p:sp>
        <p:nvSpPr>
          <p:cNvPr id="49" name="Text 47"/>
          <p:cNvSpPr/>
          <p:nvPr/>
        </p:nvSpPr>
        <p:spPr>
          <a:xfrm>
            <a:off x="6419088" y="3867912"/>
            <a:ext cx="53949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FFFFFF"/>
                </a:solidFill>
              </a:rPr>
              <a:t>HR Domain Knowledge</a:t>
            </a:r>
            <a:endParaRPr lang="en-US" sz="1200" dirty="0"/>
          </a:p>
        </p:txBody>
      </p:sp>
      <p:sp>
        <p:nvSpPr>
          <p:cNvPr id="50" name="Shape 48"/>
          <p:cNvSpPr/>
          <p:nvPr/>
        </p:nvSpPr>
        <p:spPr>
          <a:xfrm>
            <a:off x="6510528" y="4398264"/>
            <a:ext cx="128016" cy="128016"/>
          </a:xfrm>
          <a:prstGeom prst="ellipse">
            <a:avLst/>
          </a:prstGeom>
          <a:solidFill>
            <a:srgbClr val="1A472A"/>
          </a:solidFill>
          <a:ln w="12700">
            <a:solidFill>
              <a:srgbClr val="1A472A"/>
            </a:solidFill>
            <a:prstDash val="solid"/>
          </a:ln>
        </p:spPr>
      </p:sp>
      <p:sp>
        <p:nvSpPr>
          <p:cNvPr id="51" name="Text 49"/>
          <p:cNvSpPr/>
          <p:nvPr/>
        </p:nvSpPr>
        <p:spPr>
          <a:xfrm>
            <a:off x="6729984" y="4343400"/>
            <a:ext cx="502920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1E293B"/>
                </a:solidFill>
              </a:rPr>
              <a:t>Attrition Analysis</a:t>
            </a:r>
            <a:endParaRPr lang="en-US" sz="950" dirty="0"/>
          </a:p>
        </p:txBody>
      </p:sp>
      <p:sp>
        <p:nvSpPr>
          <p:cNvPr id="52" name="Shape 50"/>
          <p:cNvSpPr/>
          <p:nvPr/>
        </p:nvSpPr>
        <p:spPr>
          <a:xfrm>
            <a:off x="6510528" y="4782312"/>
            <a:ext cx="128016" cy="128016"/>
          </a:xfrm>
          <a:prstGeom prst="ellipse">
            <a:avLst/>
          </a:prstGeom>
          <a:solidFill>
            <a:srgbClr val="1A472A"/>
          </a:solidFill>
          <a:ln w="12700">
            <a:solidFill>
              <a:srgbClr val="1A472A"/>
            </a:solidFill>
            <a:prstDash val="solid"/>
          </a:ln>
        </p:spPr>
      </p:sp>
      <p:sp>
        <p:nvSpPr>
          <p:cNvPr id="53" name="Text 51"/>
          <p:cNvSpPr/>
          <p:nvPr/>
        </p:nvSpPr>
        <p:spPr>
          <a:xfrm>
            <a:off x="6729984" y="4727448"/>
            <a:ext cx="502920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1E293B"/>
                </a:solidFill>
              </a:rPr>
              <a:t>Risk Classification</a:t>
            </a:r>
            <a:endParaRPr lang="en-US" sz="950" dirty="0"/>
          </a:p>
        </p:txBody>
      </p:sp>
      <p:sp>
        <p:nvSpPr>
          <p:cNvPr id="54" name="Shape 52"/>
          <p:cNvSpPr/>
          <p:nvPr/>
        </p:nvSpPr>
        <p:spPr>
          <a:xfrm>
            <a:off x="6510528" y="5166360"/>
            <a:ext cx="128016" cy="128016"/>
          </a:xfrm>
          <a:prstGeom prst="ellipse">
            <a:avLst/>
          </a:prstGeom>
          <a:solidFill>
            <a:srgbClr val="1A472A"/>
          </a:solidFill>
          <a:ln w="12700">
            <a:solidFill>
              <a:srgbClr val="1A472A"/>
            </a:solidFill>
            <a:prstDash val="solid"/>
          </a:ln>
        </p:spPr>
      </p:sp>
      <p:sp>
        <p:nvSpPr>
          <p:cNvPr id="55" name="Text 53"/>
          <p:cNvSpPr/>
          <p:nvPr/>
        </p:nvSpPr>
        <p:spPr>
          <a:xfrm>
            <a:off x="6729984" y="5111496"/>
            <a:ext cx="502920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1E293B"/>
                </a:solidFill>
              </a:rPr>
              <a:t>Salary Band Analysis</a:t>
            </a:r>
            <a:endParaRPr lang="en-US" sz="950" dirty="0"/>
          </a:p>
        </p:txBody>
      </p:sp>
      <p:sp>
        <p:nvSpPr>
          <p:cNvPr id="56" name="Shape 54"/>
          <p:cNvSpPr/>
          <p:nvPr/>
        </p:nvSpPr>
        <p:spPr>
          <a:xfrm>
            <a:off x="6510528" y="5550408"/>
            <a:ext cx="128016" cy="128016"/>
          </a:xfrm>
          <a:prstGeom prst="ellipse">
            <a:avLst/>
          </a:prstGeom>
          <a:solidFill>
            <a:srgbClr val="1A472A"/>
          </a:solidFill>
          <a:ln w="12700">
            <a:solidFill>
              <a:srgbClr val="1A472A"/>
            </a:solidFill>
            <a:prstDash val="solid"/>
          </a:ln>
        </p:spPr>
      </p:sp>
      <p:sp>
        <p:nvSpPr>
          <p:cNvPr id="57" name="Text 55"/>
          <p:cNvSpPr/>
          <p:nvPr/>
        </p:nvSpPr>
        <p:spPr>
          <a:xfrm>
            <a:off x="6729984" y="5495544"/>
            <a:ext cx="502920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1E293B"/>
                </a:solidFill>
              </a:rPr>
              <a:t>Dept Performance KPIs</a:t>
            </a:r>
            <a:endParaRPr lang="en-US" sz="950" dirty="0"/>
          </a:p>
        </p:txBody>
      </p:sp>
      <p:sp>
        <p:nvSpPr>
          <p:cNvPr id="58" name="Shape 56"/>
          <p:cNvSpPr/>
          <p:nvPr/>
        </p:nvSpPr>
        <p:spPr>
          <a:xfrm>
            <a:off x="6510528" y="5934456"/>
            <a:ext cx="128016" cy="128016"/>
          </a:xfrm>
          <a:prstGeom prst="ellipse">
            <a:avLst/>
          </a:prstGeom>
          <a:solidFill>
            <a:srgbClr val="1A472A"/>
          </a:solidFill>
          <a:ln w="12700">
            <a:solidFill>
              <a:srgbClr val="1A472A"/>
            </a:solidFill>
            <a:prstDash val="solid"/>
          </a:ln>
        </p:spPr>
      </p:sp>
      <p:sp>
        <p:nvSpPr>
          <p:cNvPr id="59" name="Text 57"/>
          <p:cNvSpPr/>
          <p:nvPr/>
        </p:nvSpPr>
        <p:spPr>
          <a:xfrm>
            <a:off x="6729984" y="5879592"/>
            <a:ext cx="502920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1E293B"/>
                </a:solidFill>
              </a:rPr>
              <a:t>Business Recommendations</a:t>
            </a:r>
            <a:endParaRPr lang="en-US" sz="95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0A1628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-914400" y="-914400"/>
            <a:ext cx="5029200" cy="5029200"/>
          </a:xfrm>
          <a:prstGeom prst="ellipse">
            <a:avLst/>
          </a:prstGeom>
          <a:solidFill>
            <a:srgbClr val="1A472A">
              <a:alpha val="30000"/>
            </a:srgbClr>
          </a:solidFill>
          <a:ln w="12700">
            <a:solidFill>
              <a:srgbClr val="1A472A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8686800" y="3840480"/>
            <a:ext cx="4572000" cy="4572000"/>
          </a:xfrm>
          <a:prstGeom prst="ellipse">
            <a:avLst/>
          </a:prstGeom>
          <a:solidFill>
            <a:srgbClr val="FFD700">
              <a:alpha val="18000"/>
            </a:srgbClr>
          </a:solidFill>
          <a:ln w="12700">
            <a:solidFill>
              <a:srgbClr val="FFD700"/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0" y="0"/>
            <a:ext cx="164592" cy="6858000"/>
          </a:xfrm>
          <a:prstGeom prst="rect">
            <a:avLst/>
          </a:prstGeom>
          <a:solidFill>
            <a:srgbClr val="FFD700"/>
          </a:solidFill>
          <a:ln w="12700">
            <a:solidFill>
              <a:srgbClr val="FFD700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411480" y="365760"/>
            <a:ext cx="1133856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4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Project Complete!</a:t>
            </a:r>
            <a:endParaRPr lang="en-US" sz="4000" dirty="0"/>
          </a:p>
        </p:txBody>
      </p:sp>
      <p:sp>
        <p:nvSpPr>
          <p:cNvPr id="6" name="Text 4"/>
          <p:cNvSpPr/>
          <p:nvPr/>
        </p:nvSpPr>
        <p:spPr>
          <a:xfrm>
            <a:off x="411480" y="1051560"/>
            <a:ext cx="113385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dirty="0">
                <a:solidFill>
                  <a:srgbClr val="94A3B8"/>
                </a:solidFill>
              </a:rPr>
              <a:t>6-Day End-to-End HR Analytics Project by Rohan Kumar</a:t>
            </a:r>
            <a:endParaRPr lang="en-US" sz="1300" dirty="0"/>
          </a:p>
        </p:txBody>
      </p:sp>
      <p:sp>
        <p:nvSpPr>
          <p:cNvPr id="7" name="Shape 5"/>
          <p:cNvSpPr/>
          <p:nvPr/>
        </p:nvSpPr>
        <p:spPr>
          <a:xfrm>
            <a:off x="548640" y="1645920"/>
            <a:ext cx="2560320" cy="1261872"/>
          </a:xfrm>
          <a:prstGeom prst="rect">
            <a:avLst/>
          </a:prstGeom>
          <a:solidFill>
            <a:srgbClr val="162032"/>
          </a:solidFill>
          <a:ln w="12700">
            <a:solidFill>
              <a:srgbClr val="2A3F55"/>
            </a:solidFill>
            <a:prstDash val="solid"/>
          </a:ln>
          <a:effectLst>
            <a:outerShdw sx="100000" sy="100000" kx="0" ky="0" algn="bl" rotWithShape="0" blurRad="88900" dist="38100" dir="8100000">
              <a:srgbClr val="000000">
                <a:alpha val="18000"/>
              </a:srgbClr>
            </a:outerShdw>
          </a:effectLst>
        </p:spPr>
      </p:sp>
      <p:sp>
        <p:nvSpPr>
          <p:cNvPr id="8" name="Shape 6"/>
          <p:cNvSpPr/>
          <p:nvPr/>
        </p:nvSpPr>
        <p:spPr>
          <a:xfrm>
            <a:off x="548640" y="1645920"/>
            <a:ext cx="2560320" cy="201168"/>
          </a:xfrm>
          <a:prstGeom prst="rect">
            <a:avLst/>
          </a:prstGeom>
          <a:solidFill>
            <a:srgbClr val="1D6F42"/>
          </a:solidFill>
          <a:ln w="12700">
            <a:solidFill>
              <a:srgbClr val="1D6F42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548640" y="1874520"/>
            <a:ext cx="25603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600" b="1" dirty="0">
                <a:solidFill>
                  <a:srgbClr val="FFFFFF"/>
                </a:solidFill>
              </a:rPr>
              <a:t>30/30</a:t>
            </a:r>
            <a:endParaRPr lang="en-US" sz="2600" dirty="0"/>
          </a:p>
        </p:txBody>
      </p:sp>
      <p:sp>
        <p:nvSpPr>
          <p:cNvPr id="10" name="Text 8"/>
          <p:cNvSpPr/>
          <p:nvPr/>
        </p:nvSpPr>
        <p:spPr>
          <a:xfrm>
            <a:off x="548640" y="2395728"/>
            <a:ext cx="25603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94A3B8"/>
                </a:solidFill>
              </a:rPr>
              <a:t>Excel</a:t>
            </a:r>
            <a:endParaRPr lang="en-US" sz="1000" dirty="0"/>
          </a:p>
        </p:txBody>
      </p:sp>
      <p:sp>
        <p:nvSpPr>
          <p:cNvPr id="11" name="Shape 9"/>
          <p:cNvSpPr/>
          <p:nvPr/>
        </p:nvSpPr>
        <p:spPr>
          <a:xfrm>
            <a:off x="3383280" y="1645920"/>
            <a:ext cx="2560320" cy="1261872"/>
          </a:xfrm>
          <a:prstGeom prst="rect">
            <a:avLst/>
          </a:prstGeom>
          <a:solidFill>
            <a:srgbClr val="162032"/>
          </a:solidFill>
          <a:ln w="12700">
            <a:solidFill>
              <a:srgbClr val="2A3F55"/>
            </a:solidFill>
            <a:prstDash val="solid"/>
          </a:ln>
          <a:effectLst>
            <a:outerShdw sx="100000" sy="100000" kx="0" ky="0" algn="bl" rotWithShape="0" blurRad="88900" dist="38100" dir="8100000">
              <a:srgbClr val="000000">
                <a:alpha val="18000"/>
              </a:srgbClr>
            </a:outerShdw>
          </a:effectLst>
        </p:spPr>
      </p:sp>
      <p:sp>
        <p:nvSpPr>
          <p:cNvPr id="12" name="Shape 10"/>
          <p:cNvSpPr/>
          <p:nvPr/>
        </p:nvSpPr>
        <p:spPr>
          <a:xfrm>
            <a:off x="3383280" y="1645920"/>
            <a:ext cx="2560320" cy="201168"/>
          </a:xfrm>
          <a:prstGeom prst="rect">
            <a:avLst/>
          </a:prstGeom>
          <a:solidFill>
            <a:srgbClr val="E67E22"/>
          </a:solidFill>
          <a:ln w="12700">
            <a:solidFill>
              <a:srgbClr val="E67E22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3383280" y="1874520"/>
            <a:ext cx="25603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600" b="1" dirty="0">
                <a:solidFill>
                  <a:srgbClr val="FFFFFF"/>
                </a:solidFill>
              </a:rPr>
              <a:t>18/18</a:t>
            </a:r>
            <a:endParaRPr lang="en-US" sz="2600" dirty="0"/>
          </a:p>
        </p:txBody>
      </p:sp>
      <p:sp>
        <p:nvSpPr>
          <p:cNvPr id="14" name="Text 12"/>
          <p:cNvSpPr/>
          <p:nvPr/>
        </p:nvSpPr>
        <p:spPr>
          <a:xfrm>
            <a:off x="3383280" y="2395728"/>
            <a:ext cx="25603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94A3B8"/>
                </a:solidFill>
              </a:rPr>
              <a:t>SQL</a:t>
            </a:r>
            <a:endParaRPr lang="en-US" sz="1000" dirty="0"/>
          </a:p>
        </p:txBody>
      </p:sp>
      <p:sp>
        <p:nvSpPr>
          <p:cNvPr id="15" name="Shape 13"/>
          <p:cNvSpPr/>
          <p:nvPr/>
        </p:nvSpPr>
        <p:spPr>
          <a:xfrm>
            <a:off x="6217920" y="1645920"/>
            <a:ext cx="2560320" cy="1261872"/>
          </a:xfrm>
          <a:prstGeom prst="rect">
            <a:avLst/>
          </a:prstGeom>
          <a:solidFill>
            <a:srgbClr val="162032"/>
          </a:solidFill>
          <a:ln w="12700">
            <a:solidFill>
              <a:srgbClr val="2A3F55"/>
            </a:solidFill>
            <a:prstDash val="solid"/>
          </a:ln>
          <a:effectLst>
            <a:outerShdw sx="100000" sy="100000" kx="0" ky="0" algn="bl" rotWithShape="0" blurRad="88900" dist="38100" dir="8100000">
              <a:srgbClr val="000000">
                <a:alpha val="18000"/>
              </a:srgbClr>
            </a:outerShdw>
          </a:effectLst>
        </p:spPr>
      </p:sp>
      <p:sp>
        <p:nvSpPr>
          <p:cNvPr id="16" name="Shape 14"/>
          <p:cNvSpPr/>
          <p:nvPr/>
        </p:nvSpPr>
        <p:spPr>
          <a:xfrm>
            <a:off x="6217920" y="1645920"/>
            <a:ext cx="2560320" cy="201168"/>
          </a:xfrm>
          <a:prstGeom prst="rect">
            <a:avLst/>
          </a:prstGeom>
          <a:solidFill>
            <a:srgbClr val="B7950B"/>
          </a:solidFill>
          <a:ln w="12700">
            <a:solidFill>
              <a:srgbClr val="B7950B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6217920" y="1874520"/>
            <a:ext cx="25603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600" b="1" dirty="0">
                <a:solidFill>
                  <a:srgbClr val="FFFFFF"/>
                </a:solidFill>
              </a:rPr>
              <a:t>30/30</a:t>
            </a:r>
            <a:endParaRPr lang="en-US" sz="2600" dirty="0"/>
          </a:p>
        </p:txBody>
      </p:sp>
      <p:sp>
        <p:nvSpPr>
          <p:cNvPr id="18" name="Text 16"/>
          <p:cNvSpPr/>
          <p:nvPr/>
        </p:nvSpPr>
        <p:spPr>
          <a:xfrm>
            <a:off x="6217920" y="2395728"/>
            <a:ext cx="25603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94A3B8"/>
                </a:solidFill>
              </a:rPr>
              <a:t>Power BI</a:t>
            </a:r>
            <a:endParaRPr lang="en-US" sz="1000" dirty="0"/>
          </a:p>
        </p:txBody>
      </p:sp>
      <p:sp>
        <p:nvSpPr>
          <p:cNvPr id="19" name="Shape 17"/>
          <p:cNvSpPr/>
          <p:nvPr/>
        </p:nvSpPr>
        <p:spPr>
          <a:xfrm>
            <a:off x="9052560" y="1645920"/>
            <a:ext cx="2560320" cy="1261872"/>
          </a:xfrm>
          <a:prstGeom prst="rect">
            <a:avLst/>
          </a:prstGeom>
          <a:solidFill>
            <a:srgbClr val="162032"/>
          </a:solidFill>
          <a:ln w="12700">
            <a:solidFill>
              <a:srgbClr val="2A3F55"/>
            </a:solidFill>
            <a:prstDash val="solid"/>
          </a:ln>
          <a:effectLst>
            <a:outerShdw sx="100000" sy="100000" kx="0" ky="0" algn="bl" rotWithShape="0" blurRad="88900" dist="38100" dir="8100000">
              <a:srgbClr val="000000">
                <a:alpha val="18000"/>
              </a:srgbClr>
            </a:outerShdw>
          </a:effectLst>
        </p:spPr>
      </p:sp>
      <p:sp>
        <p:nvSpPr>
          <p:cNvPr id="20" name="Shape 18"/>
          <p:cNvSpPr/>
          <p:nvPr/>
        </p:nvSpPr>
        <p:spPr>
          <a:xfrm>
            <a:off x="9052560" y="1645920"/>
            <a:ext cx="2560320" cy="201168"/>
          </a:xfrm>
          <a:prstGeom prst="rect">
            <a:avLst/>
          </a:prstGeom>
          <a:solidFill>
            <a:srgbClr val="FFD700"/>
          </a:solidFill>
          <a:ln w="12700">
            <a:solidFill>
              <a:srgbClr val="FFD700"/>
            </a:solidFill>
            <a:prstDash val="solid"/>
          </a:ln>
        </p:spPr>
      </p:sp>
      <p:sp>
        <p:nvSpPr>
          <p:cNvPr id="21" name="Text 19"/>
          <p:cNvSpPr/>
          <p:nvPr/>
        </p:nvSpPr>
        <p:spPr>
          <a:xfrm>
            <a:off x="9052560" y="1874520"/>
            <a:ext cx="25603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600" b="1" dirty="0">
                <a:solidFill>
                  <a:srgbClr val="FFFFFF"/>
                </a:solidFill>
              </a:rPr>
              <a:t>78/78</a:t>
            </a:r>
            <a:endParaRPr lang="en-US" sz="2600" dirty="0"/>
          </a:p>
        </p:txBody>
      </p:sp>
      <p:sp>
        <p:nvSpPr>
          <p:cNvPr id="22" name="Text 20"/>
          <p:cNvSpPr/>
          <p:nvPr/>
        </p:nvSpPr>
        <p:spPr>
          <a:xfrm>
            <a:off x="9052560" y="2395728"/>
            <a:ext cx="25603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94A3B8"/>
                </a:solidFill>
              </a:rPr>
              <a:t>Total</a:t>
            </a:r>
            <a:endParaRPr lang="en-US" sz="1000" dirty="0"/>
          </a:p>
        </p:txBody>
      </p:sp>
      <p:sp>
        <p:nvSpPr>
          <p:cNvPr id="23" name="Shape 21"/>
          <p:cNvSpPr/>
          <p:nvPr/>
        </p:nvSpPr>
        <p:spPr>
          <a:xfrm>
            <a:off x="411480" y="3127248"/>
            <a:ext cx="11338560" cy="2148840"/>
          </a:xfrm>
          <a:prstGeom prst="rect">
            <a:avLst/>
          </a:prstGeom>
          <a:solidFill>
            <a:srgbClr val="162032"/>
          </a:solidFill>
          <a:ln w="12700">
            <a:solidFill>
              <a:srgbClr val="2A3F55"/>
            </a:solidFill>
            <a:prstDash val="solid"/>
          </a:ln>
          <a:effectLst>
            <a:outerShdw sx="100000" sy="100000" kx="0" ky="0" algn="bl" rotWithShape="0" blurRad="88900" dist="38100" dir="8100000">
              <a:srgbClr val="000000">
                <a:alpha val="18000"/>
              </a:srgbClr>
            </a:outerShdw>
          </a:effectLst>
        </p:spPr>
      </p:sp>
      <p:sp>
        <p:nvSpPr>
          <p:cNvPr id="24" name="Text 22"/>
          <p:cNvSpPr/>
          <p:nvPr/>
        </p:nvSpPr>
        <p:spPr>
          <a:xfrm>
            <a:off x="594360" y="3218688"/>
            <a:ext cx="109728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FFD700"/>
                </a:solidFill>
              </a:rPr>
              <a:t>Business Recommendations</a:t>
            </a:r>
            <a:endParaRPr lang="en-US" sz="1200" dirty="0"/>
          </a:p>
        </p:txBody>
      </p:sp>
      <p:sp>
        <p:nvSpPr>
          <p:cNvPr id="25" name="Shape 23"/>
          <p:cNvSpPr/>
          <p:nvPr/>
        </p:nvSpPr>
        <p:spPr>
          <a:xfrm>
            <a:off x="594360" y="3639312"/>
            <a:ext cx="128016" cy="128016"/>
          </a:xfrm>
          <a:prstGeom prst="ellipse">
            <a:avLst/>
          </a:prstGeom>
          <a:solidFill>
            <a:srgbClr val="FFD700"/>
          </a:solidFill>
          <a:ln w="12700">
            <a:solidFill>
              <a:srgbClr val="FFD700"/>
            </a:solidFill>
            <a:prstDash val="solid"/>
          </a:ln>
        </p:spPr>
      </p:sp>
      <p:sp>
        <p:nvSpPr>
          <p:cNvPr id="26" name="Text 24"/>
          <p:cNvSpPr/>
          <p:nvPr/>
        </p:nvSpPr>
        <p:spPr>
          <a:xfrm>
            <a:off x="822960" y="3584448"/>
            <a:ext cx="1078992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CBD5E1"/>
                </a:solidFill>
              </a:rPr>
              <a:t>Reduce overtime for R&amp;D employees — 133 left, highest in all departments</a:t>
            </a:r>
            <a:endParaRPr lang="en-US" sz="1000" dirty="0"/>
          </a:p>
        </p:txBody>
      </p:sp>
      <p:sp>
        <p:nvSpPr>
          <p:cNvPr id="27" name="Shape 25"/>
          <p:cNvSpPr/>
          <p:nvPr/>
        </p:nvSpPr>
        <p:spPr>
          <a:xfrm>
            <a:off x="594360" y="4041648"/>
            <a:ext cx="128016" cy="128016"/>
          </a:xfrm>
          <a:prstGeom prst="ellipse">
            <a:avLst/>
          </a:prstGeom>
          <a:solidFill>
            <a:srgbClr val="FFD700"/>
          </a:solidFill>
          <a:ln w="12700">
            <a:solidFill>
              <a:srgbClr val="FFD700"/>
            </a:solidFill>
            <a:prstDash val="solid"/>
          </a:ln>
        </p:spPr>
      </p:sp>
      <p:sp>
        <p:nvSpPr>
          <p:cNvPr id="28" name="Text 26"/>
          <p:cNvSpPr/>
          <p:nvPr/>
        </p:nvSpPr>
        <p:spPr>
          <a:xfrm>
            <a:off x="822960" y="3986784"/>
            <a:ext cx="1078992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CBD5E1"/>
                </a:solidFill>
              </a:rPr>
              <a:t>Review salary policy for employees earning below $3,000 — highest attrition band</a:t>
            </a:r>
            <a:endParaRPr lang="en-US" sz="1000" dirty="0"/>
          </a:p>
        </p:txBody>
      </p:sp>
      <p:sp>
        <p:nvSpPr>
          <p:cNvPr id="29" name="Shape 27"/>
          <p:cNvSpPr/>
          <p:nvPr/>
        </p:nvSpPr>
        <p:spPr>
          <a:xfrm>
            <a:off x="594360" y="4443984"/>
            <a:ext cx="128016" cy="128016"/>
          </a:xfrm>
          <a:prstGeom prst="ellipse">
            <a:avLst/>
          </a:prstGeom>
          <a:solidFill>
            <a:srgbClr val="FFD700"/>
          </a:solidFill>
          <a:ln w="12700">
            <a:solidFill>
              <a:srgbClr val="FFD700"/>
            </a:solidFill>
            <a:prstDash val="solid"/>
          </a:ln>
        </p:spPr>
      </p:sp>
      <p:sp>
        <p:nvSpPr>
          <p:cNvPr id="30" name="Text 28"/>
          <p:cNvSpPr/>
          <p:nvPr/>
        </p:nvSpPr>
        <p:spPr>
          <a:xfrm>
            <a:off x="822960" y="4389120"/>
            <a:ext cx="1078992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CBD5E1"/>
                </a:solidFill>
              </a:rPr>
              <a:t>Immediately address 153 High Risk employees — HR intervention needed now</a:t>
            </a:r>
            <a:endParaRPr lang="en-US" sz="1000" dirty="0"/>
          </a:p>
        </p:txBody>
      </p:sp>
      <p:sp>
        <p:nvSpPr>
          <p:cNvPr id="31" name="Shape 29"/>
          <p:cNvSpPr/>
          <p:nvPr/>
        </p:nvSpPr>
        <p:spPr>
          <a:xfrm>
            <a:off x="594360" y="4846320"/>
            <a:ext cx="128016" cy="128016"/>
          </a:xfrm>
          <a:prstGeom prst="ellipse">
            <a:avLst/>
          </a:prstGeom>
          <a:solidFill>
            <a:srgbClr val="FFD700"/>
          </a:solidFill>
          <a:ln w="12700">
            <a:solidFill>
              <a:srgbClr val="FFD700"/>
            </a:solidFill>
            <a:prstDash val="solid"/>
          </a:ln>
        </p:spPr>
      </p:sp>
      <p:sp>
        <p:nvSpPr>
          <p:cNvPr id="32" name="Text 30"/>
          <p:cNvSpPr/>
          <p:nvPr/>
        </p:nvSpPr>
        <p:spPr>
          <a:xfrm>
            <a:off x="822960" y="4791456"/>
            <a:ext cx="1078992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CBD5E1"/>
                </a:solidFill>
              </a:rPr>
              <a:t>Improve Job Satisfaction programs — employees with score ≤ 2 are most likely to leave</a:t>
            </a:r>
            <a:endParaRPr lang="en-US" sz="1000" dirty="0"/>
          </a:p>
        </p:txBody>
      </p:sp>
      <p:sp>
        <p:nvSpPr>
          <p:cNvPr id="33" name="Text 31"/>
          <p:cNvSpPr/>
          <p:nvPr/>
        </p:nvSpPr>
        <p:spPr>
          <a:xfrm>
            <a:off x="411480" y="5394960"/>
            <a:ext cx="1133856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000" b="1" dirty="0">
                <a:solidFill>
                  <a:srgbClr val="FFD7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Thank You</a:t>
            </a:r>
            <a:endParaRPr lang="en-US" sz="3000" dirty="0"/>
          </a:p>
        </p:txBody>
      </p:sp>
      <p:sp>
        <p:nvSpPr>
          <p:cNvPr id="34" name="Text 32"/>
          <p:cNvSpPr/>
          <p:nvPr/>
        </p:nvSpPr>
        <p:spPr>
          <a:xfrm>
            <a:off x="411480" y="5943600"/>
            <a:ext cx="113385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94A3B8"/>
                </a:solidFill>
              </a:rPr>
              <a:t>Rohan Kumar  •  Data Analytics  •  Vivekananda Global University  •  6-Day Project  •  2024</a:t>
            </a:r>
            <a:endParaRPr lang="en-US" sz="9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10</Slides>
  <Notes>10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10</vt:i4>
      </vt:variant>
    </vt:vector>
  </HeadingPairs>
  <TitlesOfParts>
    <vt:vector size="13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HR Attrition Analysis Project</dc:title>
  <dc:subject>PptxGenJS Presentation</dc:subject>
  <dc:creator>Rohan Kumar</dc:creator>
  <cp:lastModifiedBy>Rohan Kumar</cp:lastModifiedBy>
  <cp:revision>1</cp:revision>
  <dcterms:created xsi:type="dcterms:W3CDTF">2026-05-24T08:29:07Z</dcterms:created>
  <dcterms:modified xsi:type="dcterms:W3CDTF">2026-05-24T08:29:07Z</dcterms:modified>
</cp:coreProperties>
</file>